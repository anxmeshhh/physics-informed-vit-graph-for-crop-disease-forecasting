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media/image18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28"/>
  </p:sldIdLst>
  <p:sldSz cx="18288000" cy="10287000"/>
  <p:notesSz cx="6858000" cy="9144000"/>
  <p:embeddedFontLst>
    <p:embeddedFont>
      <p:font typeface="Open Sauce Bold" panose="020B0604020202020204" charset="0"/>
      <p:regular r:id="rId14"/>
    </p:embeddedFont>
    <p:embeddedFont>
      <p:font typeface="Playfair Display SC" panose="020B0604020202020204" charset="0"/>
      <p:regular r:id="rId15"/>
    </p:embeddedFont>
    <p:embeddedFont>
      <p:font typeface="Playfair Display" panose="020B0604020202020204" charset="0"/>
      <p:regular r:id="rId16"/>
    </p:embeddedFont>
    <p:embeddedFont>
      <p:font typeface="Playfair Display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Open Sauce" panose="020B0604020202020204" charset="0"/>
      <p:regular r:id="rId22"/>
    </p:embeddedFont>
    <p:embeddedFont>
      <p:font typeface="Poppi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3.png"/><Relationship Id="rId6" Type="http://schemas.openxmlformats.org/officeDocument/2006/relationships/image" Target="../media/image5.sv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7.jpe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10.jpe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svg"/><Relationship Id="rId8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svg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sv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3" Type="http://schemas.openxmlformats.org/officeDocument/2006/relationships/image" Target="../media/image3.png"/><Relationship Id="rId4" Type="http://schemas.openxmlformats.org/officeDocument/2006/relationships/image" Target="../media/image5.svg"/><Relationship Id="rId5" Type="http://schemas.openxmlformats.org/officeDocument/2006/relationships/image" Target="../media/image21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725" r="-19424" b="-20725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9144000" y="130903"/>
            <a:ext cx="10156097" cy="10156097"/>
          </a:xfrm>
          <a:custGeom>
            <a:avLst/>
            <a:gdLst/>
            <a:ahLst/>
            <a:cxnLst/>
            <a:rect l="l" t="t" r="r" b="b"/>
            <a:pathLst>
              <a:path w="10156097" h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1012097" y="130903"/>
            <a:ext cx="10156097" cy="10156097"/>
          </a:xfrm>
          <a:custGeom>
            <a:avLst/>
            <a:gdLst/>
            <a:ahLst/>
            <a:cxnLst/>
            <a:rect l="l" t="t" r="r" b="b"/>
            <a:pathLst>
              <a:path w="10156097" h="10156097">
                <a:moveTo>
                  <a:pt x="0" y="0"/>
                </a:moveTo>
                <a:lnTo>
                  <a:pt x="10156097" y="0"/>
                </a:lnTo>
                <a:lnTo>
                  <a:pt x="10156097" y="10156097"/>
                </a:lnTo>
                <a:lnTo>
                  <a:pt x="0" y="10156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2058840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56186">
            <a:off x="-1837132" y="6782224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9703857">
            <a:off x="14225045" y="-2131308"/>
            <a:ext cx="5963343" cy="6571177"/>
          </a:xfrm>
          <a:custGeom>
            <a:avLst/>
            <a:gdLst/>
            <a:ahLst/>
            <a:cxnLst/>
            <a:rect l="l" t="t" r="r" b="b"/>
            <a:pathLst>
              <a:path w="5963343" h="6571177">
                <a:moveTo>
                  <a:pt x="0" y="0"/>
                </a:moveTo>
                <a:lnTo>
                  <a:pt x="5963343" y="0"/>
                </a:lnTo>
                <a:lnTo>
                  <a:pt x="5963343" y="6571177"/>
                </a:lnTo>
                <a:lnTo>
                  <a:pt x="0" y="6571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1200" y="2363320"/>
            <a:ext cx="16589309" cy="434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7"/>
              </a:lnSpc>
            </a:pPr>
            <a:r>
              <a:rPr lang="en-US" sz="6176" b="1">
                <a:solidFill>
                  <a:srgbClr val="FFFBF7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VISION TRANSFORMER WITH PHYSICS-INFORMED GRAPH LEARNING FOR CLIMATE-ADAPTIVE CROP DISEASE FORECASTING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24699" y="7677150"/>
            <a:ext cx="10838601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660">
                <a:solidFill>
                  <a:srgbClr val="FFFBF7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ANIMESH GUPTA</a:t>
            </a:r>
          </a:p>
          <a:p>
            <a:pPr algn="ctr">
              <a:lnSpc>
                <a:spcPts val="4200"/>
              </a:lnSpc>
            </a:pPr>
            <a:r>
              <a:rPr lang="en-US" sz="3000" spc="660">
                <a:solidFill>
                  <a:srgbClr val="FFFBF7"/>
                </a:solidFill>
                <a:latin typeface="Playfair Display SC"/>
                <a:ea typeface="Playfair Display SC"/>
                <a:cs typeface="Playfair Display SC"/>
                <a:sym typeface="Playfair Display SC"/>
              </a:rPr>
              <a:t>PANEL NUMBER: 0696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9739" y="813982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21790" y="1524745"/>
            <a:ext cx="7237510" cy="72375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r="-24906"/>
              </a:stretch>
            </a:blipFill>
            <a:ln w="238125" cap="sq">
              <a:solidFill>
                <a:srgbClr val="0B5304"/>
              </a:solidFill>
              <a:prstDash val="solid"/>
              <a:miter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19739" y="3782805"/>
            <a:ext cx="9193024" cy="624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1"/>
              </a:lnSpc>
              <a:spcBef>
                <a:spcPct val="0"/>
              </a:spcBef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Agriculture plays a vital role in global food production, but crop diseases cause significant losses every year. These diseases reduce crop yield, affect food quality, and increase the use of pesticides.</a:t>
            </a:r>
          </a:p>
          <a:p>
            <a:pPr marL="0" lvl="0" indent="0" algn="just">
              <a:lnSpc>
                <a:spcPts val="2901"/>
              </a:lnSpc>
              <a:spcBef>
                <a:spcPct val="0"/>
              </a:spcBef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Climate change has made disease outbreaks more unpredictable because factors like temperature, humidity, rainfall, and wind directly influence disease development and spread.</a:t>
            </a:r>
          </a:p>
          <a:p>
            <a:pPr marL="0" lvl="0" indent="0" algn="just">
              <a:lnSpc>
                <a:spcPts val="2901"/>
              </a:lnSpc>
              <a:spcBef>
                <a:spcPct val="0"/>
              </a:spcBef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Therefore, there is a need for intelligent systems that can forecast crop diseases early rather than detecting them only after visible symptoms appear.</a:t>
            </a:r>
          </a:p>
          <a:p>
            <a:pPr marL="0" lvl="0" indent="0" algn="just">
              <a:lnSpc>
                <a:spcPts val="2901"/>
              </a:lnSpc>
              <a:spcBef>
                <a:spcPct val="0"/>
              </a:spcBef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Key Points</a:t>
            </a:r>
          </a:p>
          <a:p>
            <a:pPr marL="574635" lvl="1" indent="-287317" algn="just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Crop diseases reduce agricultural productivity.</a:t>
            </a:r>
          </a:p>
          <a:p>
            <a:pPr marL="574635" lvl="1" indent="-287317" algn="just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Climate change increases disease outbreaks.</a:t>
            </a:r>
          </a:p>
          <a:p>
            <a:pPr marL="574635" lvl="1" indent="-287317" algn="just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Early forecasting helps farmers take preventive actions.</a:t>
            </a:r>
          </a:p>
          <a:p>
            <a:pPr marL="574635" lvl="1" indent="-287317" algn="just">
              <a:lnSpc>
                <a:spcPts val="2901"/>
              </a:lnSpc>
              <a:spcBef>
                <a:spcPct val="0"/>
              </a:spcBef>
              <a:buFont typeface="Arial"/>
              <a:buChar char="•"/>
            </a:pPr>
            <a:r>
              <a:rPr lang="en-US" sz="2661" u="none" strike="noStrike" spc="-103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AI can assist in making more accurate predictions.</a:t>
            </a:r>
          </a:p>
          <a:p>
            <a:pPr marL="0" lvl="0" indent="0" algn="just">
              <a:lnSpc>
                <a:spcPts val="3501"/>
              </a:lnSpc>
              <a:spcBef>
                <a:spcPct val="0"/>
              </a:spcBef>
            </a:pPr>
            <a:endParaRPr lang="en-US" sz="2661" u="none" strike="noStrike" spc="-103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Freeform 6"/>
          <p:cNvSpPr/>
          <p:nvPr/>
        </p:nvSpPr>
        <p:spPr>
          <a:xfrm rot="638417">
            <a:off x="12623200" y="7702493"/>
            <a:ext cx="5731664" cy="6204778"/>
          </a:xfrm>
          <a:custGeom>
            <a:avLst/>
            <a:gdLst/>
            <a:ahLst/>
            <a:cxnLst/>
            <a:rect l="l" t="t" r="r" b="b"/>
            <a:pathLst>
              <a:path w="5731664" h="6204778">
                <a:moveTo>
                  <a:pt x="0" y="0"/>
                </a:moveTo>
                <a:lnTo>
                  <a:pt x="5731664" y="0"/>
                </a:lnTo>
                <a:lnTo>
                  <a:pt x="5731664" y="6204778"/>
                </a:lnTo>
                <a:lnTo>
                  <a:pt x="0" y="620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68874">
            <a:off x="14981820" y="1305203"/>
            <a:ext cx="2143915" cy="1124216"/>
          </a:xfrm>
          <a:custGeom>
            <a:avLst/>
            <a:gdLst/>
            <a:ahLst/>
            <a:cxnLst/>
            <a:rect l="l" t="t" r="r" b="b"/>
            <a:pathLst>
              <a:path w="2143915" h="1124216">
                <a:moveTo>
                  <a:pt x="0" y="0"/>
                </a:moveTo>
                <a:lnTo>
                  <a:pt x="2143915" y="0"/>
                </a:lnTo>
                <a:lnTo>
                  <a:pt x="2143915" y="1124216"/>
                </a:lnTo>
                <a:lnTo>
                  <a:pt x="0" y="1124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93338" y="1028700"/>
            <a:ext cx="1094662" cy="2178431"/>
          </a:xfrm>
          <a:custGeom>
            <a:avLst/>
            <a:gdLst/>
            <a:ahLst/>
            <a:cxnLst/>
            <a:rect l="l" t="t" r="r" b="b"/>
            <a:pathLst>
              <a:path w="1094662" h="2178431">
                <a:moveTo>
                  <a:pt x="0" y="0"/>
                </a:moveTo>
                <a:lnTo>
                  <a:pt x="1094662" y="0"/>
                </a:lnTo>
                <a:lnTo>
                  <a:pt x="1094662" y="2178431"/>
                </a:lnTo>
                <a:lnTo>
                  <a:pt x="0" y="2178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19739" y="1360195"/>
            <a:ext cx="9928748" cy="184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4"/>
              </a:lnSpc>
            </a:pPr>
            <a:r>
              <a:rPr lang="en-US" sz="5181" b="1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WHY IS CROP DISEASE FORECASTING IMPORTANT?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06978">
            <a:off x="11075115" y="-40785"/>
            <a:ext cx="9455140" cy="11262685"/>
            <a:chOff x="0" y="0"/>
            <a:chExt cx="5308501" cy="6323330"/>
          </a:xfrm>
        </p:grpSpPr>
        <p:sp>
          <p:nvSpPr>
            <p:cNvPr id="4" name="Freeform 4"/>
            <p:cNvSpPr/>
            <p:nvPr/>
          </p:nvSpPr>
          <p:spPr>
            <a:xfrm>
              <a:off x="-5309" y="-297"/>
              <a:ext cx="5314571" cy="6322523"/>
            </a:xfrm>
            <a:custGeom>
              <a:avLst/>
              <a:gdLst/>
              <a:ahLst/>
              <a:cxnLst/>
              <a:rect l="l" t="t" r="r" b="b"/>
              <a:pathLst>
                <a:path w="5314571" h="6322523">
                  <a:moveTo>
                    <a:pt x="4807378" y="4322107"/>
                  </a:moveTo>
                  <a:cubicBezTo>
                    <a:pt x="4862587" y="4242097"/>
                    <a:pt x="5239491" y="3194347"/>
                    <a:pt x="5285144" y="3085127"/>
                  </a:cubicBezTo>
                  <a:cubicBezTo>
                    <a:pt x="5334129" y="2975907"/>
                    <a:pt x="5313809" y="2472987"/>
                    <a:pt x="5283020" y="2332017"/>
                  </a:cubicBezTo>
                  <a:cubicBezTo>
                    <a:pt x="5252231" y="2191047"/>
                    <a:pt x="5069618" y="1872277"/>
                    <a:pt x="4989991" y="1859577"/>
                  </a:cubicBezTo>
                  <a:cubicBezTo>
                    <a:pt x="4910363" y="1846877"/>
                    <a:pt x="4340230" y="2140247"/>
                    <a:pt x="4261665" y="2229147"/>
                  </a:cubicBezTo>
                  <a:cubicBezTo>
                    <a:pt x="4203271" y="2295187"/>
                    <a:pt x="3930414" y="2762547"/>
                    <a:pt x="3930414" y="2762547"/>
                  </a:cubicBezTo>
                  <a:cubicBezTo>
                    <a:pt x="3930414" y="2762547"/>
                    <a:pt x="3900687" y="2768897"/>
                    <a:pt x="3899625" y="2771437"/>
                  </a:cubicBezTo>
                  <a:cubicBezTo>
                    <a:pt x="3932538" y="2663487"/>
                    <a:pt x="4173543" y="2085637"/>
                    <a:pt x="4173543" y="2085637"/>
                  </a:cubicBezTo>
                  <a:cubicBezTo>
                    <a:pt x="4173543" y="2085637"/>
                    <a:pt x="4225567" y="1463337"/>
                    <a:pt x="4173543" y="1337607"/>
                  </a:cubicBezTo>
                  <a:cubicBezTo>
                    <a:pt x="4122582" y="1211877"/>
                    <a:pt x="3773282" y="867707"/>
                    <a:pt x="3690470" y="870247"/>
                  </a:cubicBezTo>
                  <a:cubicBezTo>
                    <a:pt x="3607657" y="871517"/>
                    <a:pt x="3194656" y="1126787"/>
                    <a:pt x="3165990" y="1159807"/>
                  </a:cubicBezTo>
                  <a:cubicBezTo>
                    <a:pt x="3140509" y="1189017"/>
                    <a:pt x="2859159" y="1533187"/>
                    <a:pt x="2835801" y="1623357"/>
                  </a:cubicBezTo>
                  <a:cubicBezTo>
                    <a:pt x="2813506" y="1714797"/>
                    <a:pt x="2666991" y="2311697"/>
                    <a:pt x="2657436" y="2386627"/>
                  </a:cubicBezTo>
                  <a:cubicBezTo>
                    <a:pt x="2607536" y="2344717"/>
                    <a:pt x="2635140" y="2367577"/>
                    <a:pt x="2587363" y="2323127"/>
                  </a:cubicBezTo>
                  <a:cubicBezTo>
                    <a:pt x="2596919" y="2267247"/>
                    <a:pt x="2646819" y="1963717"/>
                    <a:pt x="2645757" y="1956097"/>
                  </a:cubicBezTo>
                  <a:cubicBezTo>
                    <a:pt x="2676546" y="1619547"/>
                    <a:pt x="2717953" y="1241087"/>
                    <a:pt x="2716891" y="984547"/>
                  </a:cubicBezTo>
                  <a:cubicBezTo>
                    <a:pt x="2707336" y="929937"/>
                    <a:pt x="2509859" y="302557"/>
                    <a:pt x="2455713" y="244137"/>
                  </a:cubicBezTo>
                  <a:cubicBezTo>
                    <a:pt x="2378209" y="145077"/>
                    <a:pt x="2118092" y="-28913"/>
                    <a:pt x="2028909" y="4107"/>
                  </a:cubicBezTo>
                  <a:cubicBezTo>
                    <a:pt x="1957775" y="32047"/>
                    <a:pt x="1661561" y="293667"/>
                    <a:pt x="1632895" y="374947"/>
                  </a:cubicBezTo>
                  <a:cubicBezTo>
                    <a:pt x="1569193" y="561637"/>
                    <a:pt x="1588304" y="909617"/>
                    <a:pt x="1558576" y="1105197"/>
                  </a:cubicBezTo>
                  <a:cubicBezTo>
                    <a:pt x="1480010" y="1003597"/>
                    <a:pt x="1329249" y="754677"/>
                    <a:pt x="1235819" y="675937"/>
                  </a:cubicBezTo>
                  <a:cubicBezTo>
                    <a:pt x="1196536" y="646727"/>
                    <a:pt x="997998" y="509567"/>
                    <a:pt x="913062" y="489247"/>
                  </a:cubicBezTo>
                  <a:cubicBezTo>
                    <a:pt x="829188" y="468927"/>
                    <a:pt x="517048" y="479087"/>
                    <a:pt x="469272" y="540047"/>
                  </a:cubicBezTo>
                  <a:cubicBezTo>
                    <a:pt x="421495" y="601007"/>
                    <a:pt x="350361" y="1237277"/>
                    <a:pt x="389644" y="1389677"/>
                  </a:cubicBezTo>
                  <a:cubicBezTo>
                    <a:pt x="415125" y="1490007"/>
                    <a:pt x="545714" y="1782107"/>
                    <a:pt x="595614" y="1871007"/>
                  </a:cubicBezTo>
                  <a:cubicBezTo>
                    <a:pt x="633835" y="1938317"/>
                    <a:pt x="775041" y="2046267"/>
                    <a:pt x="924741" y="2155487"/>
                  </a:cubicBezTo>
                  <a:cubicBezTo>
                    <a:pt x="766548" y="2164377"/>
                    <a:pt x="534036" y="2175807"/>
                    <a:pt x="449099" y="2197397"/>
                  </a:cubicBezTo>
                  <a:cubicBezTo>
                    <a:pt x="365225" y="2218987"/>
                    <a:pt x="26543" y="2489497"/>
                    <a:pt x="6371" y="2570777"/>
                  </a:cubicBezTo>
                  <a:cubicBezTo>
                    <a:pt x="-17551" y="2652057"/>
                    <a:pt x="31851" y="3147357"/>
                    <a:pt x="56270" y="3207047"/>
                  </a:cubicBezTo>
                  <a:cubicBezTo>
                    <a:pt x="80690" y="3266737"/>
                    <a:pt x="304708" y="3482637"/>
                    <a:pt x="382212" y="3514387"/>
                  </a:cubicBezTo>
                  <a:cubicBezTo>
                    <a:pt x="460778" y="3546137"/>
                    <a:pt x="908816" y="3529627"/>
                    <a:pt x="949160" y="3518197"/>
                  </a:cubicBezTo>
                  <a:cubicBezTo>
                    <a:pt x="988443" y="3506767"/>
                    <a:pt x="1237943" y="3436917"/>
                    <a:pt x="1362162" y="3383577"/>
                  </a:cubicBezTo>
                  <a:cubicBezTo>
                    <a:pt x="1398260" y="3383577"/>
                    <a:pt x="1452406" y="3421677"/>
                    <a:pt x="1488504" y="3421677"/>
                  </a:cubicBezTo>
                  <a:cubicBezTo>
                    <a:pt x="1430111" y="3441997"/>
                    <a:pt x="1276164" y="3485177"/>
                    <a:pt x="1248560" y="3499147"/>
                  </a:cubicBezTo>
                  <a:cubicBezTo>
                    <a:pt x="1220956" y="3513117"/>
                    <a:pt x="798399" y="3759497"/>
                    <a:pt x="719833" y="3853477"/>
                  </a:cubicBezTo>
                  <a:cubicBezTo>
                    <a:pt x="641267" y="3947457"/>
                    <a:pt x="540406" y="4337347"/>
                    <a:pt x="545714" y="4417357"/>
                  </a:cubicBezTo>
                  <a:cubicBezTo>
                    <a:pt x="551023" y="4497367"/>
                    <a:pt x="856792" y="4929167"/>
                    <a:pt x="937482" y="4974887"/>
                  </a:cubicBezTo>
                  <a:cubicBezTo>
                    <a:pt x="1026664" y="5025687"/>
                    <a:pt x="1466208" y="4944407"/>
                    <a:pt x="1525663" y="4927897"/>
                  </a:cubicBezTo>
                  <a:cubicBezTo>
                    <a:pt x="1585119" y="4911387"/>
                    <a:pt x="2162684" y="4576107"/>
                    <a:pt x="2203028" y="4550707"/>
                  </a:cubicBezTo>
                  <a:cubicBezTo>
                    <a:pt x="2211522" y="4553247"/>
                    <a:pt x="2238064" y="4560867"/>
                    <a:pt x="2248681" y="4565947"/>
                  </a:cubicBezTo>
                  <a:cubicBezTo>
                    <a:pt x="2149943" y="4630717"/>
                    <a:pt x="1970516" y="4788197"/>
                    <a:pt x="1884518" y="4869477"/>
                  </a:cubicBezTo>
                  <a:cubicBezTo>
                    <a:pt x="1834618" y="4916467"/>
                    <a:pt x="1327126" y="5382557"/>
                    <a:pt x="1316509" y="5485427"/>
                  </a:cubicBezTo>
                  <a:cubicBezTo>
                    <a:pt x="1304830" y="5587027"/>
                    <a:pt x="1355791" y="6063277"/>
                    <a:pt x="1374902" y="6110267"/>
                  </a:cubicBezTo>
                  <a:cubicBezTo>
                    <a:pt x="1395074" y="6157257"/>
                    <a:pt x="1824001" y="6304577"/>
                    <a:pt x="1904690" y="6321087"/>
                  </a:cubicBezTo>
                  <a:cubicBezTo>
                    <a:pt x="1986441" y="6337597"/>
                    <a:pt x="2450404" y="6206787"/>
                    <a:pt x="2528970" y="6186467"/>
                  </a:cubicBezTo>
                  <a:cubicBezTo>
                    <a:pt x="2607536" y="6166147"/>
                    <a:pt x="3141571" y="5943897"/>
                    <a:pt x="3141571" y="5943897"/>
                  </a:cubicBezTo>
                  <a:cubicBezTo>
                    <a:pt x="3141571" y="5943897"/>
                    <a:pt x="3738247" y="5484157"/>
                    <a:pt x="3770098" y="5466377"/>
                  </a:cubicBezTo>
                  <a:cubicBezTo>
                    <a:pt x="3772221" y="5468917"/>
                    <a:pt x="3995178" y="5668307"/>
                    <a:pt x="3995178" y="5668307"/>
                  </a:cubicBezTo>
                  <a:cubicBezTo>
                    <a:pt x="3995178" y="5668307"/>
                    <a:pt x="4213888" y="6036607"/>
                    <a:pt x="4270158" y="6049307"/>
                  </a:cubicBezTo>
                  <a:cubicBezTo>
                    <a:pt x="4316873" y="6051847"/>
                    <a:pt x="4568496" y="5866427"/>
                    <a:pt x="4595039" y="5830867"/>
                  </a:cubicBezTo>
                  <a:cubicBezTo>
                    <a:pt x="4621581" y="5795307"/>
                    <a:pt x="4734121" y="5581947"/>
                    <a:pt x="4742615" y="5545117"/>
                  </a:cubicBezTo>
                  <a:cubicBezTo>
                    <a:pt x="4751108" y="5508287"/>
                    <a:pt x="4408179" y="5148877"/>
                    <a:pt x="4408179" y="5148877"/>
                  </a:cubicBezTo>
                  <a:lnTo>
                    <a:pt x="4305195" y="4946947"/>
                  </a:lnTo>
                  <a:cubicBezTo>
                    <a:pt x="4305195" y="4946947"/>
                    <a:pt x="4750047" y="4402117"/>
                    <a:pt x="4805255" y="4322107"/>
                  </a:cubicBezTo>
                  <a:close/>
                </a:path>
              </a:pathLst>
            </a:custGeom>
            <a:blipFill>
              <a:blip r:embed="rId4"/>
              <a:stretch>
                <a:fillRect l="-39128" t="-4" r="-39113" b="-4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-9663670">
            <a:off x="9952836" y="-2268451"/>
            <a:ext cx="4447231" cy="4900530"/>
          </a:xfrm>
          <a:custGeom>
            <a:avLst/>
            <a:gdLst/>
            <a:ahLst/>
            <a:cxnLst/>
            <a:rect l="l" t="t" r="r" b="b"/>
            <a:pathLst>
              <a:path w="4447231" h="4900530">
                <a:moveTo>
                  <a:pt x="0" y="0"/>
                </a:moveTo>
                <a:lnTo>
                  <a:pt x="4447231" y="0"/>
                </a:lnTo>
                <a:lnTo>
                  <a:pt x="4447231" y="4900530"/>
                </a:lnTo>
                <a:lnTo>
                  <a:pt x="0" y="4900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6219" y="2701888"/>
            <a:ext cx="10139985" cy="696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88"/>
              </a:lnSpc>
              <a:spcBef>
                <a:spcPct val="0"/>
              </a:spcBef>
            </a:pPr>
            <a:r>
              <a:rPr lang="en-US" sz="2924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Most</a:t>
            </a: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 existing crop disease detection systems rely mainly on image classification using Convolutional Neural Networks (CNNs). While these models perform well in recognizing visible symptoms, they have several limitations.</a:t>
            </a:r>
          </a:p>
          <a:p>
            <a:pPr marL="0" lvl="0" indent="0" algn="just">
              <a:lnSpc>
                <a:spcPts val="3188"/>
              </a:lnSpc>
              <a:spcBef>
                <a:spcPct val="0"/>
              </a:spcBef>
            </a:pPr>
            <a:r>
              <a:rPr lang="en-US" sz="2924" b="1" u="none" strike="noStrike" spc="-114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Limitations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Detect diseases only after symptoms become visible.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Ignore climate factors such as humidity and rainfall.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Cannot model disease spread between neighboring farms.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Limited ability to adapt to changing environmental conditions.</a:t>
            </a:r>
          </a:p>
          <a:p>
            <a:pPr marL="0" lvl="0" indent="0" algn="just">
              <a:lnSpc>
                <a:spcPts val="3188"/>
              </a:lnSpc>
              <a:spcBef>
                <a:spcPct val="0"/>
              </a:spcBef>
            </a:pPr>
            <a:r>
              <a:rPr lang="en-US" sz="2924" b="1" u="none" strike="noStrike" spc="-114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Solution</a:t>
            </a:r>
          </a:p>
          <a:p>
            <a:pPr marL="0" lvl="0" indent="0" algn="just">
              <a:lnSpc>
                <a:spcPts val="3188"/>
              </a:lnSpc>
              <a:spcBef>
                <a:spcPct val="0"/>
              </a:spcBef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Develop a framework that combines: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Vision Transformer for image understanding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Graph Learning for spatial relationships</a:t>
            </a:r>
          </a:p>
          <a:p>
            <a:pPr marL="631486" lvl="1" indent="-315743" algn="just">
              <a:lnSpc>
                <a:spcPts val="3188"/>
              </a:lnSpc>
              <a:spcBef>
                <a:spcPct val="0"/>
              </a:spcBef>
              <a:buFont typeface="Arial"/>
              <a:buChar char="•"/>
            </a:pPr>
            <a:r>
              <a:rPr lang="en-US" sz="2924" u="none" strike="noStrike" spc="-114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Physics-Informed Learning for climate knowledge</a:t>
            </a:r>
          </a:p>
          <a:p>
            <a:pPr marL="0" lvl="0" indent="0" algn="just">
              <a:lnSpc>
                <a:spcPts val="4278"/>
              </a:lnSpc>
              <a:spcBef>
                <a:spcPct val="0"/>
              </a:spcBef>
            </a:pPr>
            <a:endParaRPr lang="en-US" sz="2924" u="none" strike="noStrike" spc="-114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46219" y="1042828"/>
            <a:ext cx="9552742" cy="126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1" dirty="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2679" y="1028700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389086" y="504727"/>
            <a:ext cx="4208946" cy="1047946"/>
            <a:chOff x="0" y="0"/>
            <a:chExt cx="1277610" cy="318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77610" cy="318100"/>
            </a:xfrm>
            <a:custGeom>
              <a:avLst/>
              <a:gdLst/>
              <a:ahLst/>
              <a:cxnLst/>
              <a:rect l="l" t="t" r="r" b="b"/>
              <a:pathLst>
                <a:path w="1277610" h="318100">
                  <a:moveTo>
                    <a:pt x="64379" y="0"/>
                  </a:moveTo>
                  <a:lnTo>
                    <a:pt x="1213231" y="0"/>
                  </a:lnTo>
                  <a:cubicBezTo>
                    <a:pt x="1230305" y="0"/>
                    <a:pt x="1246680" y="6783"/>
                    <a:pt x="1258754" y="18856"/>
                  </a:cubicBezTo>
                  <a:cubicBezTo>
                    <a:pt x="1270827" y="30930"/>
                    <a:pt x="1277610" y="47305"/>
                    <a:pt x="1277610" y="64379"/>
                  </a:cubicBezTo>
                  <a:lnTo>
                    <a:pt x="1277610" y="253721"/>
                  </a:lnTo>
                  <a:cubicBezTo>
                    <a:pt x="1277610" y="289277"/>
                    <a:pt x="1248786" y="318100"/>
                    <a:pt x="1213231" y="318100"/>
                  </a:cubicBezTo>
                  <a:lnTo>
                    <a:pt x="64379" y="318100"/>
                  </a:lnTo>
                  <a:cubicBezTo>
                    <a:pt x="28823" y="318100"/>
                    <a:pt x="0" y="289277"/>
                    <a:pt x="0" y="253721"/>
                  </a:cubicBezTo>
                  <a:lnTo>
                    <a:pt x="0" y="64379"/>
                  </a:lnTo>
                  <a:cubicBezTo>
                    <a:pt x="0" y="28823"/>
                    <a:pt x="28823" y="0"/>
                    <a:pt x="64379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77610" cy="365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53"/>
                </a:lnSpc>
              </a:pPr>
              <a:r>
                <a:rPr lang="en-US" sz="2681">
                  <a:solidFill>
                    <a:srgbClr val="FFFBF7"/>
                  </a:solidFill>
                  <a:latin typeface="Playfair Display SC"/>
                  <a:ea typeface="Playfair Display SC"/>
                  <a:cs typeface="Playfair Display SC"/>
                  <a:sym typeface="Playfair Display SC"/>
                </a:rPr>
                <a:t>Input Image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505879" y="2178877"/>
            <a:ext cx="4420806" cy="1159426"/>
            <a:chOff x="0" y="0"/>
            <a:chExt cx="1341919" cy="3519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1919" cy="351939"/>
            </a:xfrm>
            <a:custGeom>
              <a:avLst/>
              <a:gdLst/>
              <a:ahLst/>
              <a:cxnLst/>
              <a:rect l="l" t="t" r="r" b="b"/>
              <a:pathLst>
                <a:path w="1341919" h="351939">
                  <a:moveTo>
                    <a:pt x="61294" y="0"/>
                  </a:moveTo>
                  <a:lnTo>
                    <a:pt x="1280626" y="0"/>
                  </a:lnTo>
                  <a:cubicBezTo>
                    <a:pt x="1296882" y="0"/>
                    <a:pt x="1312472" y="6458"/>
                    <a:pt x="1323967" y="17952"/>
                  </a:cubicBezTo>
                  <a:cubicBezTo>
                    <a:pt x="1335462" y="29447"/>
                    <a:pt x="1341919" y="45038"/>
                    <a:pt x="1341919" y="61294"/>
                  </a:cubicBezTo>
                  <a:lnTo>
                    <a:pt x="1341919" y="290646"/>
                  </a:lnTo>
                  <a:cubicBezTo>
                    <a:pt x="1341919" y="306902"/>
                    <a:pt x="1335462" y="322492"/>
                    <a:pt x="1323967" y="333987"/>
                  </a:cubicBezTo>
                  <a:cubicBezTo>
                    <a:pt x="1312472" y="345482"/>
                    <a:pt x="1296882" y="351939"/>
                    <a:pt x="1280626" y="351939"/>
                  </a:cubicBezTo>
                  <a:lnTo>
                    <a:pt x="61294" y="351939"/>
                  </a:lnTo>
                  <a:cubicBezTo>
                    <a:pt x="45038" y="351939"/>
                    <a:pt x="29447" y="345482"/>
                    <a:pt x="17952" y="333987"/>
                  </a:cubicBezTo>
                  <a:cubicBezTo>
                    <a:pt x="6458" y="322492"/>
                    <a:pt x="0" y="306902"/>
                    <a:pt x="0" y="290646"/>
                  </a:cubicBezTo>
                  <a:lnTo>
                    <a:pt x="0" y="61294"/>
                  </a:lnTo>
                  <a:cubicBezTo>
                    <a:pt x="0" y="45038"/>
                    <a:pt x="6458" y="29447"/>
                    <a:pt x="17952" y="17952"/>
                  </a:cubicBezTo>
                  <a:cubicBezTo>
                    <a:pt x="29447" y="6458"/>
                    <a:pt x="45038" y="0"/>
                    <a:pt x="61294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1919" cy="399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93"/>
                </a:lnSpc>
                <a:spcBef>
                  <a:spcPct val="0"/>
                </a:spcBef>
              </a:pPr>
              <a:r>
                <a:rPr lang="en-US" sz="2281">
                  <a:solidFill>
                    <a:srgbClr val="FFFBF7"/>
                  </a:solidFill>
                  <a:latin typeface="Playfair Display SC"/>
                  <a:ea typeface="Playfair Display SC"/>
                  <a:cs typeface="Playfair Display SC"/>
                  <a:sym typeface="Playfair Display SC"/>
                </a:rPr>
                <a:t>Image Preprocessing (Resize &amp; Normalize)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5671169" y="7943629"/>
            <a:ext cx="4179033" cy="4523987"/>
          </a:xfrm>
          <a:custGeom>
            <a:avLst/>
            <a:gdLst/>
            <a:ahLst/>
            <a:cxnLst/>
            <a:rect l="l" t="t" r="r" b="b"/>
            <a:pathLst>
              <a:path w="4179033" h="4523987">
                <a:moveTo>
                  <a:pt x="0" y="0"/>
                </a:moveTo>
                <a:lnTo>
                  <a:pt x="4179034" y="0"/>
                </a:lnTo>
                <a:lnTo>
                  <a:pt x="4179034" y="4523987"/>
                </a:lnTo>
                <a:lnTo>
                  <a:pt x="0" y="4523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9309026">
            <a:off x="8195217" y="-3259391"/>
            <a:ext cx="4181477" cy="5566026"/>
          </a:xfrm>
          <a:custGeom>
            <a:avLst/>
            <a:gdLst/>
            <a:ahLst/>
            <a:cxnLst/>
            <a:rect l="l" t="t" r="r" b="b"/>
            <a:pathLst>
              <a:path w="4181477" h="5566026">
                <a:moveTo>
                  <a:pt x="0" y="0"/>
                </a:moveTo>
                <a:lnTo>
                  <a:pt x="4181477" y="0"/>
                </a:lnTo>
                <a:lnTo>
                  <a:pt x="4181477" y="5566026"/>
                </a:lnTo>
                <a:lnTo>
                  <a:pt x="0" y="5566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3352647" y="3767865"/>
            <a:ext cx="4208946" cy="1112345"/>
            <a:chOff x="0" y="0"/>
            <a:chExt cx="1277610" cy="337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7610" cy="337648"/>
            </a:xfrm>
            <a:custGeom>
              <a:avLst/>
              <a:gdLst/>
              <a:ahLst/>
              <a:cxnLst/>
              <a:rect l="l" t="t" r="r" b="b"/>
              <a:pathLst>
                <a:path w="1277610" h="337648">
                  <a:moveTo>
                    <a:pt x="64379" y="0"/>
                  </a:moveTo>
                  <a:lnTo>
                    <a:pt x="1213231" y="0"/>
                  </a:lnTo>
                  <a:cubicBezTo>
                    <a:pt x="1230305" y="0"/>
                    <a:pt x="1246680" y="6783"/>
                    <a:pt x="1258754" y="18856"/>
                  </a:cubicBezTo>
                  <a:cubicBezTo>
                    <a:pt x="1270827" y="30930"/>
                    <a:pt x="1277610" y="47305"/>
                    <a:pt x="1277610" y="64379"/>
                  </a:cubicBezTo>
                  <a:lnTo>
                    <a:pt x="1277610" y="273269"/>
                  </a:lnTo>
                  <a:cubicBezTo>
                    <a:pt x="1277610" y="308825"/>
                    <a:pt x="1248786" y="337648"/>
                    <a:pt x="1213231" y="337648"/>
                  </a:cubicBezTo>
                  <a:lnTo>
                    <a:pt x="64379" y="337648"/>
                  </a:lnTo>
                  <a:cubicBezTo>
                    <a:pt x="28823" y="337648"/>
                    <a:pt x="0" y="308825"/>
                    <a:pt x="0" y="273269"/>
                  </a:cubicBezTo>
                  <a:lnTo>
                    <a:pt x="0" y="64379"/>
                  </a:lnTo>
                  <a:cubicBezTo>
                    <a:pt x="0" y="28823"/>
                    <a:pt x="28823" y="0"/>
                    <a:pt x="64379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277610" cy="394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13"/>
                </a:lnSpc>
                <a:spcBef>
                  <a:spcPct val="0"/>
                </a:spcBef>
              </a:pPr>
              <a:r>
                <a:rPr lang="en-US" sz="2581">
                  <a:solidFill>
                    <a:srgbClr val="FFFBF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Image Patch Generation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70999" y="5413610"/>
            <a:ext cx="4208946" cy="1135646"/>
            <a:chOff x="0" y="0"/>
            <a:chExt cx="1277610" cy="3447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7610" cy="344721"/>
            </a:xfrm>
            <a:custGeom>
              <a:avLst/>
              <a:gdLst/>
              <a:ahLst/>
              <a:cxnLst/>
              <a:rect l="l" t="t" r="r" b="b"/>
              <a:pathLst>
                <a:path w="1277610" h="344721">
                  <a:moveTo>
                    <a:pt x="64379" y="0"/>
                  </a:moveTo>
                  <a:lnTo>
                    <a:pt x="1213231" y="0"/>
                  </a:lnTo>
                  <a:cubicBezTo>
                    <a:pt x="1230305" y="0"/>
                    <a:pt x="1246680" y="6783"/>
                    <a:pt x="1258754" y="18856"/>
                  </a:cubicBezTo>
                  <a:cubicBezTo>
                    <a:pt x="1270827" y="30930"/>
                    <a:pt x="1277610" y="47305"/>
                    <a:pt x="1277610" y="64379"/>
                  </a:cubicBezTo>
                  <a:lnTo>
                    <a:pt x="1277610" y="280342"/>
                  </a:lnTo>
                  <a:cubicBezTo>
                    <a:pt x="1277610" y="315898"/>
                    <a:pt x="1248786" y="344721"/>
                    <a:pt x="1213231" y="344721"/>
                  </a:cubicBezTo>
                  <a:lnTo>
                    <a:pt x="64379" y="344721"/>
                  </a:lnTo>
                  <a:cubicBezTo>
                    <a:pt x="28823" y="344721"/>
                    <a:pt x="0" y="315898"/>
                    <a:pt x="0" y="280342"/>
                  </a:cubicBezTo>
                  <a:lnTo>
                    <a:pt x="0" y="64379"/>
                  </a:lnTo>
                  <a:cubicBezTo>
                    <a:pt x="0" y="28823"/>
                    <a:pt x="28823" y="0"/>
                    <a:pt x="64379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277610" cy="401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13"/>
                </a:lnSpc>
                <a:spcBef>
                  <a:spcPct val="0"/>
                </a:spcBef>
              </a:pPr>
              <a:r>
                <a:rPr lang="en-US" sz="2581">
                  <a:solidFill>
                    <a:srgbClr val="FFFBF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Patch Embedding + Positional Encoding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13171" y="6906955"/>
            <a:ext cx="4208946" cy="1112345"/>
            <a:chOff x="0" y="0"/>
            <a:chExt cx="1277610" cy="337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7610" cy="337648"/>
            </a:xfrm>
            <a:custGeom>
              <a:avLst/>
              <a:gdLst/>
              <a:ahLst/>
              <a:cxnLst/>
              <a:rect l="l" t="t" r="r" b="b"/>
              <a:pathLst>
                <a:path w="1277610" h="337648">
                  <a:moveTo>
                    <a:pt x="64379" y="0"/>
                  </a:moveTo>
                  <a:lnTo>
                    <a:pt x="1213231" y="0"/>
                  </a:lnTo>
                  <a:cubicBezTo>
                    <a:pt x="1230305" y="0"/>
                    <a:pt x="1246680" y="6783"/>
                    <a:pt x="1258754" y="18856"/>
                  </a:cubicBezTo>
                  <a:cubicBezTo>
                    <a:pt x="1270827" y="30930"/>
                    <a:pt x="1277610" y="47305"/>
                    <a:pt x="1277610" y="64379"/>
                  </a:cubicBezTo>
                  <a:lnTo>
                    <a:pt x="1277610" y="273269"/>
                  </a:lnTo>
                  <a:cubicBezTo>
                    <a:pt x="1277610" y="308825"/>
                    <a:pt x="1248786" y="337648"/>
                    <a:pt x="1213231" y="337648"/>
                  </a:cubicBezTo>
                  <a:lnTo>
                    <a:pt x="64379" y="337648"/>
                  </a:lnTo>
                  <a:cubicBezTo>
                    <a:pt x="28823" y="337648"/>
                    <a:pt x="0" y="308825"/>
                    <a:pt x="0" y="273269"/>
                  </a:cubicBezTo>
                  <a:lnTo>
                    <a:pt x="0" y="64379"/>
                  </a:lnTo>
                  <a:cubicBezTo>
                    <a:pt x="0" y="28823"/>
                    <a:pt x="28823" y="0"/>
                    <a:pt x="64379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77610" cy="38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93"/>
                </a:lnSpc>
                <a:spcBef>
                  <a:spcPct val="0"/>
                </a:spcBef>
              </a:pPr>
              <a:r>
                <a:rPr lang="en-US" sz="2281">
                  <a:solidFill>
                    <a:srgbClr val="FFFBF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Vision Transformer Encoder (Self-Attention Layers)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505879" y="8381251"/>
            <a:ext cx="4420806" cy="1592846"/>
            <a:chOff x="0" y="0"/>
            <a:chExt cx="1341919" cy="4835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919" cy="483503"/>
            </a:xfrm>
            <a:custGeom>
              <a:avLst/>
              <a:gdLst/>
              <a:ahLst/>
              <a:cxnLst/>
              <a:rect l="l" t="t" r="r" b="b"/>
              <a:pathLst>
                <a:path w="1341919" h="483503">
                  <a:moveTo>
                    <a:pt x="61294" y="0"/>
                  </a:moveTo>
                  <a:lnTo>
                    <a:pt x="1280626" y="0"/>
                  </a:lnTo>
                  <a:cubicBezTo>
                    <a:pt x="1296882" y="0"/>
                    <a:pt x="1312472" y="6458"/>
                    <a:pt x="1323967" y="17952"/>
                  </a:cubicBezTo>
                  <a:cubicBezTo>
                    <a:pt x="1335462" y="29447"/>
                    <a:pt x="1341919" y="45038"/>
                    <a:pt x="1341919" y="61294"/>
                  </a:cubicBezTo>
                  <a:lnTo>
                    <a:pt x="1341919" y="422209"/>
                  </a:lnTo>
                  <a:cubicBezTo>
                    <a:pt x="1341919" y="438465"/>
                    <a:pt x="1335462" y="454055"/>
                    <a:pt x="1323967" y="465550"/>
                  </a:cubicBezTo>
                  <a:cubicBezTo>
                    <a:pt x="1312472" y="477045"/>
                    <a:pt x="1296882" y="483503"/>
                    <a:pt x="1280626" y="483503"/>
                  </a:cubicBezTo>
                  <a:lnTo>
                    <a:pt x="61294" y="483503"/>
                  </a:lnTo>
                  <a:cubicBezTo>
                    <a:pt x="45038" y="483503"/>
                    <a:pt x="29447" y="477045"/>
                    <a:pt x="17952" y="465550"/>
                  </a:cubicBezTo>
                  <a:cubicBezTo>
                    <a:pt x="6458" y="454055"/>
                    <a:pt x="0" y="438465"/>
                    <a:pt x="0" y="422209"/>
                  </a:cubicBezTo>
                  <a:lnTo>
                    <a:pt x="0" y="61294"/>
                  </a:lnTo>
                  <a:cubicBezTo>
                    <a:pt x="0" y="45038"/>
                    <a:pt x="6458" y="29447"/>
                    <a:pt x="17952" y="17952"/>
                  </a:cubicBezTo>
                  <a:cubicBezTo>
                    <a:pt x="29447" y="6458"/>
                    <a:pt x="45038" y="0"/>
                    <a:pt x="61294" y="0"/>
                  </a:cubicBezTo>
                  <a:close/>
                </a:path>
              </a:pathLst>
            </a:custGeom>
            <a:solidFill>
              <a:srgbClr val="0B5304"/>
            </a:solidFill>
            <a:ln w="38100" cap="rnd">
              <a:solidFill>
                <a:srgbClr val="0B5304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341919" cy="531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3"/>
                </a:lnSpc>
                <a:spcBef>
                  <a:spcPct val="0"/>
                </a:spcBef>
              </a:pPr>
              <a:r>
                <a:rPr lang="en-US" sz="2481">
                  <a:solidFill>
                    <a:srgbClr val="FFFBF7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Physics-Informed Graph Learning &amp; Climate-Adaptive Disease Forecast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4955476" y="1552673"/>
            <a:ext cx="1249655" cy="1205917"/>
          </a:xfrm>
          <a:custGeom>
            <a:avLst/>
            <a:gdLst/>
            <a:ahLst/>
            <a:cxnLst/>
            <a:rect l="l" t="t" r="r" b="b"/>
            <a:pathLst>
              <a:path w="1249655" h="1205917">
                <a:moveTo>
                  <a:pt x="0" y="0"/>
                </a:moveTo>
                <a:lnTo>
                  <a:pt x="1249655" y="0"/>
                </a:lnTo>
                <a:lnTo>
                  <a:pt x="1249655" y="1205917"/>
                </a:lnTo>
                <a:lnTo>
                  <a:pt x="0" y="1205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493559" y="4880210"/>
            <a:ext cx="1249655" cy="1205917"/>
          </a:xfrm>
          <a:custGeom>
            <a:avLst/>
            <a:gdLst/>
            <a:ahLst/>
            <a:cxnLst/>
            <a:rect l="l" t="t" r="r" b="b"/>
            <a:pathLst>
              <a:path w="1249655" h="1205917">
                <a:moveTo>
                  <a:pt x="0" y="0"/>
                </a:moveTo>
                <a:lnTo>
                  <a:pt x="1249655" y="0"/>
                </a:lnTo>
                <a:lnTo>
                  <a:pt x="1249655" y="1205917"/>
                </a:lnTo>
                <a:lnTo>
                  <a:pt x="0" y="1205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030772" y="7974682"/>
            <a:ext cx="1249655" cy="1205917"/>
          </a:xfrm>
          <a:custGeom>
            <a:avLst/>
            <a:gdLst/>
            <a:ahLst/>
            <a:cxnLst/>
            <a:rect l="l" t="t" r="r" b="b"/>
            <a:pathLst>
              <a:path w="1249655" h="1205917">
                <a:moveTo>
                  <a:pt x="0" y="0"/>
                </a:moveTo>
                <a:lnTo>
                  <a:pt x="1249655" y="0"/>
                </a:lnTo>
                <a:lnTo>
                  <a:pt x="1249655" y="1205918"/>
                </a:lnTo>
                <a:lnTo>
                  <a:pt x="0" y="1205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-1556978">
            <a:off x="11959738" y="3069633"/>
            <a:ext cx="1145100" cy="1396464"/>
          </a:xfrm>
          <a:custGeom>
            <a:avLst/>
            <a:gdLst/>
            <a:ahLst/>
            <a:cxnLst/>
            <a:rect l="l" t="t" r="r" b="b"/>
            <a:pathLst>
              <a:path w="1145100" h="1396464">
                <a:moveTo>
                  <a:pt x="0" y="0"/>
                </a:moveTo>
                <a:lnTo>
                  <a:pt x="1145101" y="0"/>
                </a:lnTo>
                <a:lnTo>
                  <a:pt x="1145101" y="1396464"/>
                </a:lnTo>
                <a:lnTo>
                  <a:pt x="0" y="1396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722679" y="2965673"/>
            <a:ext cx="9127524" cy="559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Vi</a:t>
            </a: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sion Transformer (ViT) is a deep learning model that applies the Transformer architecture, originally developed for Natural Language Processing, to image analysis.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Instead of processing the entire image at once, ViT divides the image into smaller patches. Each patch is converted into an embedding, and the Transformer uses self-attention to learn relationships among all image patches.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24" u="none" strike="noStrike" spc="-106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824" b="1" u="none" strike="noStrike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Advantages</a:t>
            </a:r>
          </a:p>
          <a:p>
            <a:pPr marL="588308" lvl="1" indent="-294154" algn="just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Learns global image features.</a:t>
            </a:r>
          </a:p>
          <a:p>
            <a:pPr marL="588308" lvl="1" indent="-294154" algn="just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Captures long-range relationships.</a:t>
            </a:r>
          </a:p>
          <a:p>
            <a:pPr marL="588308" lvl="1" indent="-294154" algn="just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Performs better on complex image datasets.</a:t>
            </a:r>
          </a:p>
          <a:p>
            <a:pPr marL="588308" lvl="1" indent="-294154" algn="just">
              <a:lnSpc>
                <a:spcPts val="2970"/>
              </a:lnSpc>
              <a:spcBef>
                <a:spcPct val="0"/>
              </a:spcBef>
              <a:buFont typeface="Arial"/>
              <a:buChar char="•"/>
            </a:pPr>
            <a:r>
              <a:rPr lang="en-US" sz="2724" u="none" strike="noStrike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Handles irregular disease patterns effectively.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24" u="none" strike="noStrike" spc="-106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24" u="none" strike="noStrike" spc="-106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22679" y="1276030"/>
            <a:ext cx="9288859" cy="109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TRANSFORMER </a:t>
            </a:r>
          </a:p>
        </p:txBody>
      </p:sp>
      <p:sp>
        <p:nvSpPr>
          <p:cNvPr id="29" name="Freeform 29"/>
          <p:cNvSpPr/>
          <p:nvPr/>
        </p:nvSpPr>
        <p:spPr>
          <a:xfrm rot="-1556978">
            <a:off x="12220262" y="6208723"/>
            <a:ext cx="1145100" cy="1396464"/>
          </a:xfrm>
          <a:custGeom>
            <a:avLst/>
            <a:gdLst/>
            <a:ahLst/>
            <a:cxnLst/>
            <a:rect l="l" t="t" r="r" b="b"/>
            <a:pathLst>
              <a:path w="1145100" h="1396464">
                <a:moveTo>
                  <a:pt x="0" y="0"/>
                </a:moveTo>
                <a:lnTo>
                  <a:pt x="1145101" y="0"/>
                </a:lnTo>
                <a:lnTo>
                  <a:pt x="1145101" y="1396464"/>
                </a:lnTo>
                <a:lnTo>
                  <a:pt x="0" y="1396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3919" y="814547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81962" y="1603349"/>
            <a:ext cx="6677338" cy="3405443"/>
          </a:xfrm>
          <a:custGeom>
            <a:avLst/>
            <a:gdLst/>
            <a:ahLst/>
            <a:cxnLst/>
            <a:rect l="l" t="t" r="r" b="b"/>
            <a:pathLst>
              <a:path w="6677338" h="3405443">
                <a:moveTo>
                  <a:pt x="0" y="0"/>
                </a:moveTo>
                <a:lnTo>
                  <a:pt x="6677338" y="0"/>
                </a:lnTo>
                <a:lnTo>
                  <a:pt x="6677338" y="3405443"/>
                </a:lnTo>
                <a:lnTo>
                  <a:pt x="0" y="3405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DEFF81"/>
            </a:solidFill>
            <a:prstDash val="solid"/>
            <a:round/>
          </a:ln>
        </p:spPr>
      </p:sp>
      <p:sp>
        <p:nvSpPr>
          <p:cNvPr id="4" name="Freeform 4"/>
          <p:cNvSpPr/>
          <p:nvPr/>
        </p:nvSpPr>
        <p:spPr>
          <a:xfrm>
            <a:off x="10581962" y="5289844"/>
            <a:ext cx="6677338" cy="3393807"/>
          </a:xfrm>
          <a:custGeom>
            <a:avLst/>
            <a:gdLst/>
            <a:ahLst/>
            <a:cxnLst/>
            <a:rect l="l" t="t" r="r" b="b"/>
            <a:pathLst>
              <a:path w="6677338" h="3393807">
                <a:moveTo>
                  <a:pt x="0" y="0"/>
                </a:moveTo>
                <a:lnTo>
                  <a:pt x="6677338" y="0"/>
                </a:lnTo>
                <a:lnTo>
                  <a:pt x="6677338" y="3393807"/>
                </a:lnTo>
                <a:lnTo>
                  <a:pt x="0" y="3393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569" b="-15516"/>
            </a:stretch>
          </a:blipFill>
          <a:ln w="38100" cap="rnd">
            <a:solidFill>
              <a:srgbClr val="DEFF81"/>
            </a:solidFill>
            <a:prstDash val="solid"/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863919" y="3233058"/>
            <a:ext cx="9370214" cy="6514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Physics-Info</a:t>
            </a: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rmed Graph Learning combines Graph Neural Networks with scientific knowledge.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A graph consists of nodes and edges.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In agriculture:</a:t>
            </a:r>
          </a:p>
          <a:p>
            <a:pPr marL="572952" lvl="1" indent="-286476" algn="just">
              <a:lnSpc>
                <a:spcPts val="2892"/>
              </a:lnSpc>
              <a:spcBef>
                <a:spcPct val="0"/>
              </a:spcBef>
              <a:buFont typeface="Arial"/>
              <a:buChar char="•"/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Nodes represent farms or crop fields.</a:t>
            </a:r>
          </a:p>
          <a:p>
            <a:pPr marL="572952" lvl="1" indent="-286476" algn="just">
              <a:lnSpc>
                <a:spcPts val="2892"/>
              </a:lnSpc>
              <a:spcBef>
                <a:spcPct val="0"/>
              </a:spcBef>
              <a:buFont typeface="Arial"/>
              <a:buChar char="•"/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Edges represent relationships such as geographical proximity, wind direction, water flow, or humidity.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Physics-informed learning introduces environmental rules into the training process.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Instead of learning only from data, the model also considers known scientific relationships.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b="1" u="none" strike="noStrike" spc="-103">
                <a:solidFill>
                  <a:srgbClr val="FFFBF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Examples</a:t>
            </a:r>
          </a:p>
          <a:p>
            <a:pPr marL="572952" lvl="1" indent="-286476" algn="just">
              <a:lnSpc>
                <a:spcPts val="2892"/>
              </a:lnSpc>
              <a:spcBef>
                <a:spcPct val="0"/>
              </a:spcBef>
              <a:buFont typeface="Arial"/>
              <a:buChar char="•"/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High humidity increases fungal disease risk.</a:t>
            </a:r>
          </a:p>
          <a:p>
            <a:pPr marL="572952" lvl="1" indent="-286476" algn="just">
              <a:lnSpc>
                <a:spcPts val="2892"/>
              </a:lnSpc>
              <a:spcBef>
                <a:spcPct val="0"/>
              </a:spcBef>
              <a:buFont typeface="Arial"/>
              <a:buChar char="•"/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Heavy rainfall may accelerate disease spread.</a:t>
            </a:r>
          </a:p>
          <a:p>
            <a:pPr marL="572952" lvl="1" indent="-286476" algn="just">
              <a:lnSpc>
                <a:spcPts val="2892"/>
              </a:lnSpc>
              <a:spcBef>
                <a:spcPct val="0"/>
              </a:spcBef>
              <a:buFont typeface="Arial"/>
              <a:buChar char="•"/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Wind can carry spores from one field to another.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r>
              <a:rPr lang="en-US" sz="2653" u="none" strike="noStrike" spc="-103">
                <a:solidFill>
                  <a:srgbClr val="FFFBF7"/>
                </a:solidFill>
                <a:latin typeface="Open Sauce"/>
                <a:ea typeface="Open Sauce"/>
                <a:cs typeface="Open Sauce"/>
                <a:sym typeface="Open Sauce"/>
              </a:rPr>
              <a:t>This allows the model to produce predictions that are more consistent with real-world agricultural conditions.</a:t>
            </a:r>
          </a:p>
          <a:p>
            <a:pPr marL="0" lvl="0" indent="0" algn="just">
              <a:lnSpc>
                <a:spcPts val="2892"/>
              </a:lnSpc>
              <a:spcBef>
                <a:spcPct val="0"/>
              </a:spcBef>
            </a:pPr>
            <a:endParaRPr lang="en-US" sz="2653" u="none" strike="noStrike" spc="-103">
              <a:solidFill>
                <a:srgbClr val="FFFBF7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Freeform 6"/>
          <p:cNvSpPr/>
          <p:nvPr/>
        </p:nvSpPr>
        <p:spPr>
          <a:xfrm rot="883039">
            <a:off x="9596382" y="7790180"/>
            <a:ext cx="3751473" cy="4993641"/>
          </a:xfrm>
          <a:custGeom>
            <a:avLst/>
            <a:gdLst/>
            <a:ahLst/>
            <a:cxnLst/>
            <a:rect l="l" t="t" r="r" b="b"/>
            <a:pathLst>
              <a:path w="3751473" h="4993641">
                <a:moveTo>
                  <a:pt x="0" y="0"/>
                </a:moveTo>
                <a:lnTo>
                  <a:pt x="3751473" y="0"/>
                </a:lnTo>
                <a:lnTo>
                  <a:pt x="3751473" y="4993640"/>
                </a:lnTo>
                <a:lnTo>
                  <a:pt x="0" y="4993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873294">
            <a:off x="15190124" y="-1737978"/>
            <a:ext cx="4138352" cy="4479948"/>
          </a:xfrm>
          <a:custGeom>
            <a:avLst/>
            <a:gdLst/>
            <a:ahLst/>
            <a:cxnLst/>
            <a:rect l="l" t="t" r="r" b="b"/>
            <a:pathLst>
              <a:path w="4138352" h="4479948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3919" y="1242853"/>
            <a:ext cx="9370214" cy="1621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5600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PHYSICS-INFORMED GRAPH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74918">
            <a:off x="16606891" y="-1211274"/>
            <a:ext cx="4138352" cy="4479948"/>
          </a:xfrm>
          <a:custGeom>
            <a:avLst/>
            <a:gdLst/>
            <a:ahLst/>
            <a:cxnLst/>
            <a:rect l="l" t="t" r="r" b="b"/>
            <a:pathLst>
              <a:path w="4138352" h="4479948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55204"/>
              </p:ext>
            </p:extLst>
          </p:nvPr>
        </p:nvGraphicFramePr>
        <p:xfrm>
          <a:off x="435428" y="396099"/>
          <a:ext cx="17242974" cy="9382533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367282">
                  <a:extLst>
                    <a:ext uri="{9D8B030D-6E8A-4147-A177-3AD203B41FA5}">
                      <a16:colId xmlns:a16="http://schemas.microsoft.com/office/drawing/2014/main" val="1793108630"/>
                    </a:ext>
                  </a:extLst>
                </a:gridCol>
                <a:gridCol w="5529907">
                  <a:extLst>
                    <a:ext uri="{9D8B030D-6E8A-4147-A177-3AD203B41FA5}">
                      <a16:colId xmlns:a16="http://schemas.microsoft.com/office/drawing/2014/main" val="902927897"/>
                    </a:ext>
                  </a:extLst>
                </a:gridCol>
                <a:gridCol w="3448595">
                  <a:extLst>
                    <a:ext uri="{9D8B030D-6E8A-4147-A177-3AD203B41FA5}">
                      <a16:colId xmlns:a16="http://schemas.microsoft.com/office/drawing/2014/main" val="16802493"/>
                    </a:ext>
                  </a:extLst>
                </a:gridCol>
                <a:gridCol w="3448595">
                  <a:extLst>
                    <a:ext uri="{9D8B030D-6E8A-4147-A177-3AD203B41FA5}">
                      <a16:colId xmlns:a16="http://schemas.microsoft.com/office/drawing/2014/main" val="1140373186"/>
                    </a:ext>
                  </a:extLst>
                </a:gridCol>
                <a:gridCol w="3448595">
                  <a:extLst>
                    <a:ext uri="{9D8B030D-6E8A-4147-A177-3AD203B41FA5}">
                      <a16:colId xmlns:a16="http://schemas.microsoft.com/office/drawing/2014/main" val="510809804"/>
                    </a:ext>
                  </a:extLst>
                </a:gridCol>
              </a:tblGrid>
              <a:tr h="224274">
                <a:tc>
                  <a:txBody>
                    <a:bodyPr/>
                    <a:lstStyle/>
                    <a:p>
                      <a:pPr algn="r"/>
                      <a:r>
                        <a:rPr lang="en-IN" sz="1400" dirty="0" err="1"/>
                        <a:t>S.No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Paper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Method / Approach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Key Contribution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Research Gap / Limitation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3404866113"/>
                  </a:ext>
                </a:extLst>
              </a:tr>
              <a:tr h="869571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1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Plant Disease Detection using Vision Transformers on Multispectral Natural Environment Images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Vision Transformer on multispectral plant images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Demonstrates transformer-based plant disease recognition under natural environmental conditions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Focuses on visual disease detection; does not model inter-field spatial relationships or climate-informed disease forecasting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2096829847"/>
                  </a:ext>
                </a:extLst>
              </a:tr>
              <a:tr h="946298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2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Real-Time Plant Disease Identification: Fusion of Vision Transformer and Conditional Convolutional Network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ViT + conditional CNN + C3GAN augmentation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Improves real-time plant disease identification using hybrid visual learning and augmentation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Primarily image-based identification; does not model disease propagation across farms or incorporate physics-informed climate constraints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629306739"/>
                  </a:ext>
                </a:extLst>
              </a:tr>
              <a:tr h="71611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3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Crop Disease and Pest Classification Using Swin Transformer and Dual-Attention Multi-Scale Fusion Network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Swin Transformer + dual-attention multi-scale fusion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Improves crop disease and pest classification through multi-scale feature learning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Classification-oriented; does not perform spatial, climate-adaptive disease forecasting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3768524071"/>
                  </a:ext>
                </a:extLst>
              </a:tr>
              <a:tr h="792844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4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Lightweight Vision Transformer with Lite-AVPSO Hyperparameter Optimization for Agricultural Disease Recognition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Lightweight ViT + hyperparameter optimization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Improves efficiency of transformer-based agricultural disease recognition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Focuses on efficient recognition rather than climate variables, graph relations, or early disease-spread forecasting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2333225060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5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Plant Disease Detection Using an Innovative Swin-Axial Transformer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Swin + Axial Transformer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Uses advanced transformer architecture for plant disease detection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Mainly image-based disease detection; lacks spatial field interaction and environmental disease modelling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2853860524"/>
                  </a:ext>
                </a:extLst>
              </a:tr>
              <a:tr h="71611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6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CycleGAN-Based Data Augmentation with CNN and Vision Transformers for Maize Leaf Disease Classification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CycleGAN augmentation + CNN + ViT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Enhances maize disease classification by generating additional training images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Addresses data scarcity and classification but not climate conditions or disease transmission between fields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201405344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7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 Comparison of Two Transformers in the Study of Plant Disease Classification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Comparative transformer analysis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Evaluates transformer models for plant disease classification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Limited to comparison/classification; no graph-based spatial reasoning or climate-aware forecasting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036501265"/>
                  </a:ext>
                </a:extLst>
              </a:tr>
              <a:tr h="562664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8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Abnormal Image Classification Using Vision Transformer for Smart Agriculture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Vision Transformer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Demonstrates use of ViT for agricultural abnormal-image classification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Does not incorporate environmental factors or relationships among farms/fields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794884118"/>
                  </a:ext>
                </a:extLst>
              </a:tr>
              <a:tr h="716116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9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AI Based Hybrid CNN-LSTM Model for Crop Disease Prediction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CNN + LSTM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Performs crop disease prediction using combined spatial and temporal deep-learning features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Does not use transformer-based visual features, graph learning, or physics-informed environmental knowledge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3026956159"/>
                  </a:ext>
                </a:extLst>
              </a:tr>
              <a:tr h="792844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10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Physics-Informed Data-Driven Model for Short-Term Precipitation Prediction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Physics-informed data-driven learning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Integrates physical knowledge with data-driven modelling for precipitation prediction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Targets weather prediction rather than crop disease forecasting; lacks plant imagery and agricultural graph structure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62937169"/>
                  </a:ext>
                </a:extLst>
              </a:tr>
              <a:tr h="946298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11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Intracity Temperature Estimation by Physics-Informed Neural Network Using Meteorology and Multispectral Satellite Imagery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PINN + meteorological data + multispectral imagery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Demonstrates integration of physics, meteorological forcing and imagery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Focuses on temperature estimation, not crop disease risk or disease spread across agricultural regions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1861139832"/>
                  </a:ext>
                </a:extLst>
              </a:tr>
              <a:tr h="792844">
                <a:tc>
                  <a:txBody>
                    <a:bodyPr/>
                    <a:lstStyle/>
                    <a:p>
                      <a:pPr algn="r"/>
                      <a:r>
                        <a:rPr lang="en-IN" sz="1400"/>
                        <a:t>12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Precipitation Nowcasting with Graph Neural Network and Gated Recurrent Units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GNN + GRU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Models spatial relationships between weather stations for precipitation forecasting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Graph is used for weather stations, not farms/crop fields; does not combine plant image features with disease-spread modelling</a:t>
                      </a:r>
                    </a:p>
                  </a:txBody>
                  <a:tcPr marL="12434" marR="12434" marT="6217" marB="6217" anchor="ctr"/>
                </a:tc>
                <a:extLst>
                  <a:ext uri="{0D108BD9-81ED-4DB2-BD59-A6C34878D82A}">
                    <a16:rowId xmlns:a16="http://schemas.microsoft.com/office/drawing/2014/main" val="26836077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7191" y="632658"/>
            <a:ext cx="6245543" cy="1177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2326854"/>
            <a:ext cx="18288000" cy="715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CROP DISEASE SYSTEMS MAINLY FOCUS ON IMAGE-BASED DISEASE DETECTION AND CLASSIFICATION.</a:t>
            </a:r>
          </a:p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CLIMATE FACTORS SUCH AS TEMPERATURE, HUMIDITY, RAINFALL, AND WIND ARE OFTEN NOT INTEGRATED WITH VISUAL DISEASE FEATURES.</a:t>
            </a:r>
          </a:p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MODELS GENERALLY DO NOT CAPTURE DISEASE SPREAD BETWEEN GEOGRAPHICALLY CONNECTED FARMS OR FIELDS.</a:t>
            </a:r>
          </a:p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PHYSICS-INFORMED KNOWLEDGE IS RARELY INTEGRATED WITH VISUAL AND SPATIAL DISEASE PREDICTION IN A UNIFIED FRAMEWORK.</a:t>
            </a:r>
          </a:p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MOST SYSTEMS PROVIDE CURRENT DISEASE IDENTIFICATION, RATHER THAN 1–7 DAY FUTURE DISEASE-RISK FORECASTING.</a:t>
            </a:r>
          </a:p>
          <a:p>
            <a:pPr marL="582988" lvl="1" indent="-291494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APPROACHES GENERALLY LACK GEOSPATIAL VISUALIZATION OF PREDICTED AFFECTED AREAS.</a:t>
            </a:r>
          </a:p>
          <a:p>
            <a:pPr algn="l">
              <a:lnSpc>
                <a:spcPts val="3780"/>
              </a:lnSpc>
            </a:pPr>
            <a:endParaRPr lang="en-US" sz="27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THEREFORE, THERE IS A NEED FOR AN INTEGRATED FRAMEWORK COMBINING DINOV2-BASED VISUAL FEATURES, CLIMATE DATA, GRAPH NEURAL NETWORKS, PHYSICS-INFORMED LEARNING, MULTI-HORIZON FORECASTING, AND GEOSPATIAL DISEASE-RISK MAPPING. </a:t>
            </a:r>
          </a:p>
        </p:txBody>
      </p:sp>
      <p:sp>
        <p:nvSpPr>
          <p:cNvPr id="4" name="Freeform 4"/>
          <p:cNvSpPr/>
          <p:nvPr/>
        </p:nvSpPr>
        <p:spPr>
          <a:xfrm rot="-6432200">
            <a:off x="15653255" y="-955723"/>
            <a:ext cx="3751473" cy="4993641"/>
          </a:xfrm>
          <a:custGeom>
            <a:avLst/>
            <a:gdLst/>
            <a:ahLst/>
            <a:cxnLst/>
            <a:rect l="l" t="t" r="r" b="b"/>
            <a:pathLst>
              <a:path w="3751473" h="4993641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09600" y="418505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90750" y="223722"/>
            <a:ext cx="11699903" cy="9839556"/>
          </a:xfrm>
          <a:custGeom>
            <a:avLst/>
            <a:gdLst/>
            <a:ahLst/>
            <a:cxnLst/>
            <a:rect l="l" t="t" r="r" b="b"/>
            <a:pathLst>
              <a:path w="11699903" h="9839556">
                <a:moveTo>
                  <a:pt x="0" y="0"/>
                </a:moveTo>
                <a:lnTo>
                  <a:pt x="11699903" y="0"/>
                </a:lnTo>
                <a:lnTo>
                  <a:pt x="11699903" y="9839556"/>
                </a:lnTo>
                <a:lnTo>
                  <a:pt x="0" y="9839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30" t="-699" r="-14982" b="-699"/>
            </a:stretch>
          </a:blipFill>
        </p:spPr>
      </p:sp>
      <p:sp>
        <p:nvSpPr>
          <p:cNvPr id="3" name="TextBox 3"/>
          <p:cNvSpPr txBox="1"/>
          <p:nvPr/>
        </p:nvSpPr>
        <p:spPr>
          <a:xfrm rot="-5400000">
            <a:off x="-2296125" y="4016619"/>
            <a:ext cx="9916240" cy="233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ARCHITECHTURE DIGRAM</a:t>
            </a:r>
          </a:p>
        </p:txBody>
      </p:sp>
      <p:sp>
        <p:nvSpPr>
          <p:cNvPr id="4" name="Freeform 4"/>
          <p:cNvSpPr/>
          <p:nvPr/>
        </p:nvSpPr>
        <p:spPr>
          <a:xfrm rot="-8299228">
            <a:off x="448572" y="-2496820"/>
            <a:ext cx="3751473" cy="4993641"/>
          </a:xfrm>
          <a:custGeom>
            <a:avLst/>
            <a:gdLst/>
            <a:ahLst/>
            <a:cxnLst/>
            <a:rect l="l" t="t" r="r" b="b"/>
            <a:pathLst>
              <a:path w="3751473" h="4993641">
                <a:moveTo>
                  <a:pt x="0" y="0"/>
                </a:moveTo>
                <a:lnTo>
                  <a:pt x="3751473" y="0"/>
                </a:lnTo>
                <a:lnTo>
                  <a:pt x="3751473" y="4993640"/>
                </a:lnTo>
                <a:lnTo>
                  <a:pt x="0" y="4993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031266" y="7848005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7" y="0"/>
                </a:lnTo>
                <a:lnTo>
                  <a:pt x="883707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14547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94722"/>
            <a:ext cx="7109673" cy="935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7"/>
              </a:lnSpc>
              <a:spcBef>
                <a:spcPct val="0"/>
              </a:spcBef>
            </a:pPr>
            <a:r>
              <a:rPr lang="en-US" sz="6300" b="1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</a:p>
        </p:txBody>
      </p:sp>
      <p:sp>
        <p:nvSpPr>
          <p:cNvPr id="4" name="Freeform 4"/>
          <p:cNvSpPr/>
          <p:nvPr/>
        </p:nvSpPr>
        <p:spPr>
          <a:xfrm rot="-8299228">
            <a:off x="7268264" y="-2496820"/>
            <a:ext cx="3751473" cy="4993641"/>
          </a:xfrm>
          <a:custGeom>
            <a:avLst/>
            <a:gdLst/>
            <a:ahLst/>
            <a:cxnLst/>
            <a:rect l="l" t="t" r="r" b="b"/>
            <a:pathLst>
              <a:path w="3751473" h="4993641">
                <a:moveTo>
                  <a:pt x="0" y="0"/>
                </a:moveTo>
                <a:lnTo>
                  <a:pt x="3751472" y="0"/>
                </a:lnTo>
                <a:lnTo>
                  <a:pt x="3751472" y="4993640"/>
                </a:lnTo>
                <a:lnTo>
                  <a:pt x="0" y="4993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69941" y="2030459"/>
            <a:ext cx="16089359" cy="7799863"/>
          </a:xfrm>
          <a:custGeom>
            <a:avLst/>
            <a:gdLst/>
            <a:ahLst/>
            <a:cxnLst/>
            <a:rect l="l" t="t" r="r" b="b"/>
            <a:pathLst>
              <a:path w="16089359" h="7799863">
                <a:moveTo>
                  <a:pt x="0" y="0"/>
                </a:moveTo>
                <a:lnTo>
                  <a:pt x="16089359" y="0"/>
                </a:lnTo>
                <a:lnTo>
                  <a:pt x="16089359" y="7799863"/>
                </a:lnTo>
                <a:lnTo>
                  <a:pt x="0" y="7799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69" b="-1569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40335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968874">
            <a:off x="13571408" y="-146796"/>
            <a:ext cx="2143915" cy="1124216"/>
          </a:xfrm>
          <a:custGeom>
            <a:avLst/>
            <a:gdLst/>
            <a:ahLst/>
            <a:cxnLst/>
            <a:rect l="l" t="t" r="r" b="b"/>
            <a:pathLst>
              <a:path w="2143915" h="1124216">
                <a:moveTo>
                  <a:pt x="0" y="0"/>
                </a:moveTo>
                <a:lnTo>
                  <a:pt x="2143915" y="0"/>
                </a:lnTo>
                <a:lnTo>
                  <a:pt x="2143915" y="1124216"/>
                </a:lnTo>
                <a:lnTo>
                  <a:pt x="0" y="1124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643295" y="437540"/>
            <a:ext cx="2565110" cy="2894341"/>
          </a:xfrm>
          <a:custGeom>
            <a:avLst/>
            <a:gdLst/>
            <a:ahLst/>
            <a:cxnLst/>
            <a:rect l="l" t="t" r="r" b="b"/>
            <a:pathLst>
              <a:path w="2565110" h="2894341">
                <a:moveTo>
                  <a:pt x="0" y="0"/>
                </a:moveTo>
                <a:lnTo>
                  <a:pt x="2565110" y="0"/>
                </a:lnTo>
                <a:lnTo>
                  <a:pt x="2565110" y="2894341"/>
                </a:lnTo>
                <a:lnTo>
                  <a:pt x="0" y="2894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5566" y="8307944"/>
            <a:ext cx="3591987" cy="3958112"/>
          </a:xfrm>
          <a:custGeom>
            <a:avLst/>
            <a:gdLst/>
            <a:ahLst/>
            <a:cxnLst/>
            <a:rect l="l" t="t" r="r" b="b"/>
            <a:pathLst>
              <a:path w="3591987" h="3958112">
                <a:moveTo>
                  <a:pt x="0" y="0"/>
                </a:moveTo>
                <a:lnTo>
                  <a:pt x="3591986" y="0"/>
                </a:lnTo>
                <a:lnTo>
                  <a:pt x="3591986" y="3958112"/>
                </a:lnTo>
                <a:lnTo>
                  <a:pt x="0" y="3958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582315"/>
            <a:ext cx="6710522" cy="48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824" b="1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Advantages</a:t>
            </a:r>
          </a:p>
          <a:p>
            <a:pPr algn="just">
              <a:lnSpc>
                <a:spcPts val="3079"/>
              </a:lnSpc>
            </a:pPr>
            <a:endParaRPr lang="en-US" sz="2824" b="1" spc="-110">
              <a:solidFill>
                <a:srgbClr val="0B5304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Better image feature extraction.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Global understanding of disease symptoms.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Incorporates climate information.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Models disease spread across multiple farms.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Supports early disease forecasting.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Can reduce unnecessary pesticide use.</a:t>
            </a:r>
          </a:p>
          <a:p>
            <a:pPr marL="588308" lvl="1" indent="-294154" algn="just">
              <a:lnSpc>
                <a:spcPts val="2970"/>
              </a:lnSpc>
              <a:buFont typeface="Arial"/>
              <a:buChar char="•"/>
            </a:pPr>
            <a:r>
              <a:rPr lang="en-US" sz="2724" spc="-106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Helps improve crop productivity.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724" spc="-106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478166"/>
            <a:ext cx="13348827" cy="93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8"/>
              </a:lnSpc>
              <a:spcBef>
                <a:spcPct val="0"/>
              </a:spcBef>
            </a:pPr>
            <a:r>
              <a:rPr lang="en-US" sz="6200" b="1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ADVANT</a:t>
            </a:r>
            <a:r>
              <a:rPr lang="en-US" sz="6200" b="1" u="none" strike="noStrike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AGES AND APPLICATIONS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2491" y="3582315"/>
            <a:ext cx="7110704" cy="3505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824" b="1" spc="-110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Applications</a:t>
            </a:r>
          </a:p>
          <a:p>
            <a:pPr algn="just">
              <a:lnSpc>
                <a:spcPts val="3079"/>
              </a:lnSpc>
            </a:pPr>
            <a:endParaRPr lang="en-US" sz="2824" b="1" spc="-110">
              <a:solidFill>
                <a:srgbClr val="0B5304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Smart agriculture</a:t>
            </a: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Precision farming</a:t>
            </a: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Crop monitoring</a:t>
            </a: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Agricultural decision support systems</a:t>
            </a: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Government crop surveillance</a:t>
            </a:r>
          </a:p>
          <a:p>
            <a:pPr marL="609897" lvl="1" indent="-304948" algn="just">
              <a:lnSpc>
                <a:spcPts val="3079"/>
              </a:lnSpc>
              <a:buFont typeface="Arial"/>
              <a:buChar char="•"/>
            </a:pPr>
            <a:r>
              <a:rPr lang="en-US" sz="2824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IoT-based farming systems</a:t>
            </a:r>
          </a:p>
          <a:p>
            <a:pPr marL="0" lvl="0" indent="0" algn="just">
              <a:lnSpc>
                <a:spcPts val="2970"/>
              </a:lnSpc>
              <a:spcBef>
                <a:spcPct val="0"/>
              </a:spcBef>
            </a:pPr>
            <a:endParaRPr lang="en-US" sz="2824" spc="-110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Freeform 9"/>
          <p:cNvSpPr/>
          <p:nvPr/>
        </p:nvSpPr>
        <p:spPr>
          <a:xfrm rot="-10800000">
            <a:off x="16309734" y="7088180"/>
            <a:ext cx="3591987" cy="3958112"/>
          </a:xfrm>
          <a:custGeom>
            <a:avLst/>
            <a:gdLst/>
            <a:ahLst/>
            <a:cxnLst/>
            <a:rect l="l" t="t" r="r" b="b"/>
            <a:pathLst>
              <a:path w="3591987" h="3958112">
                <a:moveTo>
                  <a:pt x="0" y="0"/>
                </a:moveTo>
                <a:lnTo>
                  <a:pt x="3591987" y="0"/>
                </a:lnTo>
                <a:lnTo>
                  <a:pt x="3591987" y="3958112"/>
                </a:lnTo>
                <a:lnTo>
                  <a:pt x="0" y="39581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F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5"/>
                </a:lnTo>
                <a:lnTo>
                  <a:pt x="0" y="42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74918">
            <a:off x="15190124" y="-1211274"/>
            <a:ext cx="4138352" cy="4479948"/>
          </a:xfrm>
          <a:custGeom>
            <a:avLst/>
            <a:gdLst/>
            <a:ahLst/>
            <a:cxnLst/>
            <a:rect l="l" t="t" r="r" b="b"/>
            <a:pathLst>
              <a:path w="4138352" h="4479948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08100">
            <a:off x="11730295" y="7595078"/>
            <a:ext cx="3751473" cy="4993641"/>
          </a:xfrm>
          <a:custGeom>
            <a:avLst/>
            <a:gdLst/>
            <a:ahLst/>
            <a:cxnLst/>
            <a:rect l="l" t="t" r="r" b="b"/>
            <a:pathLst>
              <a:path w="3751473" h="4993641">
                <a:moveTo>
                  <a:pt x="0" y="0"/>
                </a:moveTo>
                <a:lnTo>
                  <a:pt x="3751473" y="0"/>
                </a:lnTo>
                <a:lnTo>
                  <a:pt x="3751473" y="4993641"/>
                </a:lnTo>
                <a:lnTo>
                  <a:pt x="0" y="499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056823">
            <a:off x="15148064" y="1902279"/>
            <a:ext cx="897453" cy="1785977"/>
          </a:xfrm>
          <a:custGeom>
            <a:avLst/>
            <a:gdLst/>
            <a:ahLst/>
            <a:cxnLst/>
            <a:rect l="l" t="t" r="r" b="b"/>
            <a:pathLst>
              <a:path w="897453" h="1785977">
                <a:moveTo>
                  <a:pt x="0" y="0"/>
                </a:moveTo>
                <a:lnTo>
                  <a:pt x="897453" y="0"/>
                </a:lnTo>
                <a:lnTo>
                  <a:pt x="897453" y="1785976"/>
                </a:lnTo>
                <a:lnTo>
                  <a:pt x="0" y="1785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824847">
            <a:off x="13537927" y="14302"/>
            <a:ext cx="1345346" cy="705466"/>
          </a:xfrm>
          <a:custGeom>
            <a:avLst/>
            <a:gdLst/>
            <a:ahLst/>
            <a:cxnLst/>
            <a:rect l="l" t="t" r="r" b="b"/>
            <a:pathLst>
              <a:path w="1345346" h="705466">
                <a:moveTo>
                  <a:pt x="0" y="0"/>
                </a:moveTo>
                <a:lnTo>
                  <a:pt x="1345346" y="0"/>
                </a:lnTo>
                <a:lnTo>
                  <a:pt x="1345346" y="705466"/>
                </a:lnTo>
                <a:lnTo>
                  <a:pt x="0" y="7054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7016741">
            <a:off x="11284368" y="8254582"/>
            <a:ext cx="1154270" cy="2089176"/>
          </a:xfrm>
          <a:custGeom>
            <a:avLst/>
            <a:gdLst/>
            <a:ahLst/>
            <a:cxnLst/>
            <a:rect l="l" t="t" r="r" b="b"/>
            <a:pathLst>
              <a:path w="1154270" h="2089176">
                <a:moveTo>
                  <a:pt x="0" y="0"/>
                </a:moveTo>
                <a:lnTo>
                  <a:pt x="1154270" y="0"/>
                </a:lnTo>
                <a:lnTo>
                  <a:pt x="1154270" y="2089176"/>
                </a:lnTo>
                <a:lnTo>
                  <a:pt x="0" y="20891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951866" y="1061878"/>
            <a:ext cx="15606428" cy="216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dirty="0">
                <a:solidFill>
                  <a:srgbClr val="0B5304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FUTURE SCOPE</a:t>
            </a:r>
          </a:p>
          <a:p>
            <a:pPr algn="ctr">
              <a:lnSpc>
                <a:spcPts val="8400"/>
              </a:lnSpc>
            </a:pPr>
            <a:endParaRPr lang="en-US" sz="6000" b="1" dirty="0">
              <a:solidFill>
                <a:srgbClr val="0B530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526784"/>
            <a:ext cx="15197920" cy="673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8"/>
              </a:lnSpc>
            </a:pPr>
            <a:r>
              <a:rPr lang="en-US" sz="3236" b="1" spc="-126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  <a:p>
            <a:pPr algn="just">
              <a:lnSpc>
                <a:spcPts val="3528"/>
              </a:lnSpc>
            </a:pPr>
            <a:endParaRPr lang="en-US" sz="3236" b="1" spc="-126">
              <a:solidFill>
                <a:srgbClr val="0B5304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12488" lvl="1" indent="-306244" algn="l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Vision Transformer provides powerful image feature extraction through self-attention.</a:t>
            </a:r>
          </a:p>
          <a:p>
            <a:pPr marL="612488" lvl="1" indent="-306244" algn="l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Graph Learning captures relationships among farms and neighboring regions.</a:t>
            </a:r>
          </a:p>
          <a:p>
            <a:pPr marL="612488" lvl="1" indent="-306244" algn="l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Physics-Informed Learning integrates scientific knowledge related to climate and disease spread.</a:t>
            </a:r>
          </a:p>
          <a:p>
            <a:pPr marL="612488" lvl="1" indent="-306244" algn="l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The combination of these technologies has the potential to improve climate-adaptive crop disease forecasting and support sustainable agriculture.</a:t>
            </a:r>
          </a:p>
          <a:p>
            <a:pPr algn="l">
              <a:lnSpc>
                <a:spcPts val="3092"/>
              </a:lnSpc>
            </a:pPr>
            <a:endParaRPr lang="en-US" sz="2836" spc="-110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528"/>
              </a:lnSpc>
            </a:pPr>
            <a:r>
              <a:rPr lang="en-US" sz="3236" b="1" spc="-126">
                <a:solidFill>
                  <a:srgbClr val="0B530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  <a:p>
            <a:pPr algn="just">
              <a:lnSpc>
                <a:spcPts val="3528"/>
              </a:lnSpc>
            </a:pPr>
            <a:endParaRPr lang="en-US" sz="3236" b="1" spc="-126">
              <a:solidFill>
                <a:srgbClr val="0B5304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612488" lvl="1" indent="-306244" algn="just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Integration with drones and satellite imagery.</a:t>
            </a:r>
          </a:p>
          <a:p>
            <a:pPr marL="612488" lvl="1" indent="-306244" algn="just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Real-time weather monitoring.</a:t>
            </a:r>
          </a:p>
          <a:p>
            <a:pPr marL="612488" lvl="1" indent="-306244" algn="just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IoT sensor-based disease prediction.</a:t>
            </a:r>
          </a:p>
          <a:p>
            <a:pPr marL="612488" lvl="1" indent="-306244" algn="just">
              <a:lnSpc>
                <a:spcPts val="3092"/>
              </a:lnSpc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Explainable AI for better decision-making.</a:t>
            </a:r>
          </a:p>
          <a:p>
            <a:pPr marL="612488" lvl="1" indent="-306244" algn="just">
              <a:lnSpc>
                <a:spcPts val="3092"/>
              </a:lnSpc>
              <a:spcBef>
                <a:spcPct val="0"/>
              </a:spcBef>
              <a:buFont typeface="Arial"/>
              <a:buChar char="•"/>
            </a:pPr>
            <a:r>
              <a:rPr lang="en-US" sz="2836" spc="-110">
                <a:solidFill>
                  <a:srgbClr val="0B5304"/>
                </a:solidFill>
                <a:latin typeface="Open Sauce"/>
                <a:ea typeface="Open Sauce"/>
                <a:cs typeface="Open Sauce"/>
                <a:sym typeface="Open Sauce"/>
              </a:rPr>
              <a:t>Deployment in smart farming systems.</a:t>
            </a:r>
          </a:p>
          <a:p>
            <a:pPr marL="0" lvl="0" indent="0" algn="just">
              <a:lnSpc>
                <a:spcPts val="2002"/>
              </a:lnSpc>
              <a:spcBef>
                <a:spcPct val="0"/>
              </a:spcBef>
            </a:pPr>
            <a:endParaRPr lang="en-US" sz="2836" spc="-110">
              <a:solidFill>
                <a:srgbClr val="0B5304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25094" y="3790220"/>
            <a:ext cx="883708" cy="428305"/>
          </a:xfrm>
          <a:custGeom>
            <a:avLst/>
            <a:gdLst/>
            <a:ahLst/>
            <a:cxnLst/>
            <a:rect l="l" t="t" r="r" b="b"/>
            <a:pathLst>
              <a:path w="883708" h="428305">
                <a:moveTo>
                  <a:pt x="0" y="0"/>
                </a:moveTo>
                <a:lnTo>
                  <a:pt x="883708" y="0"/>
                </a:lnTo>
                <a:lnTo>
                  <a:pt x="883708" y="428306"/>
                </a:lnTo>
                <a:lnTo>
                  <a:pt x="0" y="42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04227" y="4237576"/>
            <a:ext cx="13679546" cy="224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12"/>
              </a:lnSpc>
            </a:pPr>
            <a:r>
              <a:rPr lang="en-US" sz="14873" b="1">
                <a:solidFill>
                  <a:srgbClr val="FFFBF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rot="1511338">
            <a:off x="-1350763" y="6881922"/>
            <a:ext cx="5726213" cy="4752757"/>
          </a:xfrm>
          <a:custGeom>
            <a:avLst/>
            <a:gdLst/>
            <a:ahLst/>
            <a:cxnLst/>
            <a:rect l="l" t="t" r="r" b="b"/>
            <a:pathLst>
              <a:path w="5726213" h="4752757">
                <a:moveTo>
                  <a:pt x="0" y="0"/>
                </a:moveTo>
                <a:lnTo>
                  <a:pt x="5726213" y="0"/>
                </a:lnTo>
                <a:lnTo>
                  <a:pt x="5726213" y="4752756"/>
                </a:lnTo>
                <a:lnTo>
                  <a:pt x="0" y="4752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172651">
            <a:off x="14370900" y="-1285019"/>
            <a:ext cx="5226996" cy="5759775"/>
          </a:xfrm>
          <a:custGeom>
            <a:avLst/>
            <a:gdLst/>
            <a:ahLst/>
            <a:cxnLst/>
            <a:rect l="l" t="t" r="r" b="b"/>
            <a:pathLst>
              <a:path w="5226996" h="5759775">
                <a:moveTo>
                  <a:pt x="0" y="0"/>
                </a:moveTo>
                <a:lnTo>
                  <a:pt x="5226996" y="0"/>
                </a:lnTo>
                <a:lnTo>
                  <a:pt x="5226996" y="5759776"/>
                </a:lnTo>
                <a:lnTo>
                  <a:pt x="0" y="5759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874918">
            <a:off x="16606891" y="-1211274"/>
            <a:ext cx="4138352" cy="4479948"/>
          </a:xfrm>
          <a:custGeom>
            <a:avLst/>
            <a:gdLst/>
            <a:ahLst/>
            <a:cxnLst/>
            <a:rect l="l" t="t" r="r" b="b"/>
            <a:pathLst>
              <a:path w="4138352" h="4479948">
                <a:moveTo>
                  <a:pt x="0" y="0"/>
                </a:moveTo>
                <a:lnTo>
                  <a:pt x="4138352" y="0"/>
                </a:lnTo>
                <a:lnTo>
                  <a:pt x="4138352" y="4479948"/>
                </a:lnTo>
                <a:lnTo>
                  <a:pt x="0" y="44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55204"/>
              </p:ext>
            </p:extLst>
          </p:nvPr>
        </p:nvGraphicFramePr>
        <p:xfrm>
          <a:off x="522513" y="993500"/>
          <a:ext cx="17242974" cy="83000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00000"/>
                <a:gridCol w="3600000"/>
                <a:gridCol w="2900000"/>
                <a:gridCol w="2900000"/>
                <a:gridCol w="3300000"/>
                <a:gridCol w="3642974"/>
              </a:tblGrid>
              <a:tr h="5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S.No.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Author(s)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Method / Approach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Key Contribution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Research Gap / Limitation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13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Applying Graph Neural Networks to Predict Fungal Disease Occurrences in Precision Agriculture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Samson, Lord, Carisse &amp; Makarenkov (2026)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Graph Convolutional Network on plant-level spatial graphs with weather-derived node features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Shows GNNs outperform traditional ML/DL baselines for fungal disease occurrence and stay robust under missing or noisy field data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Uses spatial-proximity graphs within single fields only; no visual ViT features, physics-informed climate constraints, or multi-day forecast horizon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14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PlantPlotGAN: A Physics-Informed Generative Adversarial Network for Plant Disease Prediction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Lopes, Sagan &amp; Esposito (2023)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Physics-informed GAN generating synthetic multispectral plot imagery with realistic vegetation indices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Improves early disease-prediction accuracy by augmenting limited UAV multispectral datasets with physically realistic synthetic imagery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Limited to single-plot synthetic imagery generation; no inter-field spatial/graph modelling of disease spread or climate-adaptive forecasting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15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MMST-ViT: Climate Change-Aware Crop Yield Prediction via Multi-Modal Spatial-Temporal Vision Transformer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Lin, Crawford, Guillot, Zhang et al. (2023)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Multi-modal Vision Transformer fusing satellite imagery with short- and long-term meteorological data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First ViT-based model jointly capturing growing-season weather variation and long-term climate change for county-level crop forecasting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Targets crop yield, not disease forecasting; lacks graph-based modelling of disease transmission between farms and physics-informed constraints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16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Resource-Efficient Few-Shot Plant Disease Classification via Quantized Low-Rank Adapters in Vision Transformers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Bayat Toksoz &amp; İşık (2026)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DINOv2 self-supervised ViT backbone with a Prototypical Network fine-tuned via QLoRA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Achieves accurate few-shot disease classification while tuning under 1% of parameters, suited to resource-constrained field deployment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Purely image-based classification; no climate variables, inter-farm graph relationships, or future disease-risk forecasting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17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Stimator: A Method in Agriculture CPS Framework to Estimate Severity of Plant Diseases using Graph Neural Network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Kethineni, Mohanty &amp; Kougianos (2023)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Graph Neural Network over a farmland graph of diseased locations to estimate severity and spread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Introduces a combined severity metric of affected area and spread area, estimated through graph-based learning over farmland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Graph nodes encode disease locations only, without visual transformer features, climate/weather variables, or future-horizon forecasting</a:t>
                      </a:r>
                    </a:p>
                  </a:txBody>
                  <a:tcPr marL="12434" marR="12434" marT="6217" marB="6217" anchor="ctr"/>
                </a:tc>
              </a:tr>
              <a:tr h="1300000">
                <a:tc>
                  <a:txBody>
                    <a:bodyPr/>
                    <a:lstStyle/>
                    <a:p>
                      <a:pPr algn="r"/>
                      <a:r>
                        <a:rPr lang="en-IN" sz="1400" dirty="0"/>
                        <a:t>18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Spatio-Temporal Prediction of Crop Disease Severity for Agricultural Emergency Management Based on Recurrent Neural Networks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Xu, Wang &amp; Chen (2018)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Spatio-temporal RNN with ensemble learning on remote-sensing, bioclimatic, topographic and soil data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Models spatial and temporal dependence in wheat yellow-rust severity to support agricultural emergency management decisions</a:t>
                      </a:r>
                    </a:p>
                  </a:txBody>
                  <a:tcPr marL="12434" marR="12434" marT="6217" marB="621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Relies on RNN rather than transformer/graph architectures; no ViT features, physics-informed learning, or explicit inter-field graph relationships</a:t>
                      </a:r>
                    </a:p>
                  </a:txBody>
                  <a:tcPr marL="12434" marR="12434" marT="6217" marB="6217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1238</Words>
  <Application>Microsoft Office PowerPoint</Application>
  <PresentationFormat>Custom</PresentationFormat>
  <Paragraphs>164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Open Sauce Bold</vt:lpstr>
      <vt:lpstr>Playfair Display SC</vt:lpstr>
      <vt:lpstr>Playfair Display</vt:lpstr>
      <vt:lpstr>Playfair Display Bold</vt:lpstr>
      <vt:lpstr>Calibri</vt:lpstr>
      <vt:lpstr>Open Sauce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Transformer with Physics-Informed Graph Learning for Climate-Adaptive Crop Disease Forecasting</dc:title>
  <cp:lastModifiedBy>Lenovo</cp:lastModifiedBy>
  <cp:revision>2</cp:revision>
  <dcterms:created xsi:type="dcterms:W3CDTF">2006-08-16T00:00:00Z</dcterms:created>
  <dcterms:modified xsi:type="dcterms:W3CDTF">2026-08-30T16:04:53Z</dcterms:modified>
  <dc:identifier>DAHQ4Ug5Mhk</dc:identifier>
</cp:coreProperties>
</file>