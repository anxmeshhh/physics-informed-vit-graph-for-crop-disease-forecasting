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148840"/>
            <a:ext cx="1005840" cy="5080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0584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8FA8C8"/>
                </a:solidFill>
                <a:latin typeface="Segoe UI"/>
              </a:rPr>
              <a:t>SEVA INNOVATION CHALLENGE  ·  PANEL NUMBER 0696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600" b="1">
                <a:solidFill>
                  <a:srgbClr val="FFFFFF"/>
                </a:solidFill>
                <a:latin typeface="Segoe UI"/>
              </a:rPr>
              <a:t>Vision Transformer with Physics-Informed
Graph Learning for Crop Disease Forecasting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1605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>
                <a:solidFill>
                  <a:srgbClr val="B8CAE2"/>
                </a:solidFill>
                <a:latin typeface="Segoe UI"/>
              </a:rPr>
              <a:t>Predicting crop disease risk 1–7 days before symptoms appear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34924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8FA8C8"/>
                </a:solidFill>
                <a:latin typeface="Segoe UI"/>
              </a:rPr>
              <a:t>Animesh Gupta  ·  Panel Number: 0696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31750"/>
          </a:xfrm>
          <a:prstGeom prst="rect">
            <a:avLst/>
          </a:prstGeom>
          <a:solidFill>
            <a:srgbClr val="143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37744"/>
            <a:ext cx="914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C8D2DE"/>
                </a:solidFill>
                <a:latin typeface="Segoe U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201168"/>
            <a:ext cx="102412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14315C"/>
                </a:solidFill>
                <a:latin typeface="Segoe UI"/>
              </a:rP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658368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828A93"/>
                </a:solidFill>
                <a:latin typeface="Segoe UI"/>
              </a:rPr>
              <a:t>Why existing crop-disease apps are not enough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600200"/>
            <a:ext cx="969264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0">
                <a:solidFill>
                  <a:srgbClr val="1A1D22"/>
                </a:solidFill>
                <a:latin typeface="Segoe UI"/>
              </a:rPr>
              <a:t>•   Today's apps only tell you what a leaf already has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0">
                <a:solidFill>
                  <a:srgbClr val="1A1D22"/>
                </a:solidFill>
                <a:latin typeface="Segoe UI"/>
              </a:rPr>
              <a:t>•   By the time symptoms are visible, the damage is done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0">
                <a:solidFill>
                  <a:srgbClr val="1A1D22"/>
                </a:solidFill>
                <a:latin typeface="Segoe UI"/>
              </a:rPr>
              <a:t>•   They ignore weather — yet weather is what drives infection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0">
                <a:solidFill>
                  <a:srgbClr val="1A1D22"/>
                </a:solidFill>
                <a:latin typeface="Segoe UI"/>
              </a:rPr>
              <a:t>•   They look at one field at a time, as if it stood alone</a:t>
            </a:r>
          </a:p>
        </p:txBody>
      </p:sp>
      <p:sp>
        <p:nvSpPr>
          <p:cNvPr id="9" name="Rectangle 8"/>
          <p:cNvSpPr/>
          <p:nvPr/>
        </p:nvSpPr>
        <p:spPr>
          <a:xfrm>
            <a:off x="1325880" y="5715000"/>
            <a:ext cx="96926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5833872"/>
            <a:ext cx="9326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4D545C"/>
                </a:solidFill>
                <a:latin typeface="Segoe UI"/>
              </a:rPr>
              <a:t>A farmer does not need a diagnosis. A farmer needs a warning.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31750"/>
          </a:xfrm>
          <a:prstGeom prst="rect">
            <a:avLst/>
          </a:prstGeom>
          <a:solidFill>
            <a:srgbClr val="143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37744"/>
            <a:ext cx="914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C8D2DE"/>
                </a:solidFill>
                <a:latin typeface="Segoe U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201168"/>
            <a:ext cx="102412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14315C"/>
                </a:solidFill>
                <a:latin typeface="Segoe UI"/>
              </a:rPr>
              <a:t>Our idea in one 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658368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828A93"/>
                </a:solidFill>
                <a:latin typeface="Segoe UI"/>
              </a:rPr>
              <a:t>Do not just identify the disease — forecast where it is going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600200"/>
            <a:ext cx="969264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900" b="1">
                <a:solidFill>
                  <a:srgbClr val="1A1D22"/>
                </a:solidFill>
                <a:latin typeface="Segoe UI"/>
              </a:rPr>
              <a:t>Look at the leaf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4D545C"/>
                </a:solidFill>
                <a:latin typeface="Segoe UI"/>
              </a:rPr>
              <a:t>A vision transformer recognises the disease from the photo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900" b="1">
                <a:solidFill>
                  <a:srgbClr val="1A1D22"/>
                </a:solidFill>
                <a:latin typeface="Segoe UI"/>
              </a:rPr>
              <a:t>Check the weather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4D545C"/>
                </a:solidFill>
                <a:latin typeface="Segoe UI"/>
              </a:rPr>
              <a:t>Real temperature, humidity, rainfall and leaf wetness at that farm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900" b="1">
                <a:solidFill>
                  <a:srgbClr val="1A1D22"/>
                </a:solidFill>
                <a:latin typeface="Segoe UI"/>
              </a:rPr>
              <a:t>Look at the neighbours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4D545C"/>
                </a:solidFill>
                <a:latin typeface="Segoe UI"/>
              </a:rPr>
              <a:t>Nearby farms are linked in a network; wind carries spores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900" b="1">
                <a:solidFill>
                  <a:srgbClr val="1A1D22"/>
                </a:solidFill>
                <a:latin typeface="Segoe UI"/>
              </a:rPr>
              <a:t>Predict the next week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4D545C"/>
                </a:solidFill>
                <a:latin typeface="Segoe UI"/>
              </a:rPr>
              <a:t>Disease risk at 1, 3, 5 and 7 days ahead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31750"/>
          </a:xfrm>
          <a:prstGeom prst="rect">
            <a:avLst/>
          </a:prstGeom>
          <a:solidFill>
            <a:srgbClr val="143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37744"/>
            <a:ext cx="914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C8D2DE"/>
                </a:solidFill>
                <a:latin typeface="Segoe UI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201168"/>
            <a:ext cx="102412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14315C"/>
                </a:solidFill>
                <a:latin typeface="Segoe UI"/>
              </a:rPr>
              <a:t>How it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658368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828A93"/>
                </a:solidFill>
                <a:latin typeface="Segoe UI"/>
              </a:rPr>
              <a:t>The same four steps, as the system runs them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2286000"/>
            <a:ext cx="2455164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2286000"/>
            <a:ext cx="2455164" cy="50800"/>
          </a:xfrm>
          <a:prstGeom prst="rect">
            <a:avLst/>
          </a:prstGeom>
          <a:solidFill>
            <a:srgbClr val="143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487168"/>
            <a:ext cx="208940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1">
                <a:solidFill>
                  <a:srgbClr val="828A93"/>
                </a:solidFill>
                <a:latin typeface="Segoe UI"/>
              </a:rPr>
              <a:t>STEP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16352"/>
            <a:ext cx="2089404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14315C"/>
                </a:solidFill>
                <a:latin typeface="Segoe UI"/>
              </a:rPr>
              <a:t>Leaf photo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401568"/>
            <a:ext cx="2089404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0">
                <a:solidFill>
                  <a:srgbClr val="4D545C"/>
                </a:solidFill>
                <a:latin typeface="Segoe UI"/>
              </a:rPr>
              <a:t>A frozen vision transformer turns the image into 384 numbers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23844" y="2971800"/>
            <a:ext cx="20116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B0BAC6"/>
                </a:solidFill>
                <a:latin typeface="Segoe U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25012" y="2286000"/>
            <a:ext cx="2455164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25012" y="2286000"/>
            <a:ext cx="2455164" cy="50800"/>
          </a:xfrm>
          <a:prstGeom prst="rect">
            <a:avLst/>
          </a:prstGeom>
          <a:solidFill>
            <a:srgbClr val="143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07892" y="2487168"/>
            <a:ext cx="208940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1">
                <a:solidFill>
                  <a:srgbClr val="828A93"/>
                </a:solidFill>
                <a:latin typeface="Segoe UI"/>
              </a:rPr>
              <a:t>STEP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7892" y="2816352"/>
            <a:ext cx="2089404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14315C"/>
                </a:solidFill>
                <a:latin typeface="Segoe UI"/>
              </a:rPr>
              <a:t>Weather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7892" y="3401568"/>
            <a:ext cx="2089404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0">
                <a:solidFill>
                  <a:srgbClr val="4D545C"/>
                </a:solidFill>
                <a:latin typeface="Segoe UI"/>
              </a:rPr>
              <a:t>Real ERA5 data becomes leaf wetness, VPD, growing degree days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80176" y="2971800"/>
            <a:ext cx="20116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B0BAC6"/>
                </a:solidFill>
                <a:latin typeface="Segoe UI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81344" y="2286000"/>
            <a:ext cx="2455164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81344" y="2286000"/>
            <a:ext cx="2455164" cy="50800"/>
          </a:xfrm>
          <a:prstGeom prst="rect">
            <a:avLst/>
          </a:prstGeom>
          <a:solidFill>
            <a:srgbClr val="143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2487168"/>
            <a:ext cx="208940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1">
                <a:solidFill>
                  <a:srgbClr val="828A93"/>
                </a:solidFill>
                <a:latin typeface="Segoe UI"/>
              </a:rPr>
              <a:t>STEP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4224" y="2816352"/>
            <a:ext cx="2089404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14315C"/>
                </a:solidFill>
                <a:latin typeface="Segoe UI"/>
              </a:rPr>
              <a:t>Farm graph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64224" y="3401568"/>
            <a:ext cx="2089404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0">
                <a:solidFill>
                  <a:srgbClr val="4D545C"/>
                </a:solidFill>
                <a:latin typeface="Segoe UI"/>
              </a:rPr>
              <a:t>Nearby farms connected, with extra links pointing downwind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36508" y="2971800"/>
            <a:ext cx="20116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B0BAC6"/>
                </a:solidFill>
                <a:latin typeface="Segoe UI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837676" y="2286000"/>
            <a:ext cx="2455164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837676" y="2286000"/>
            <a:ext cx="2455164" cy="50800"/>
          </a:xfrm>
          <a:prstGeom prst="rect">
            <a:avLst/>
          </a:prstGeom>
          <a:solidFill>
            <a:srgbClr val="143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20556" y="2487168"/>
            <a:ext cx="208940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1">
                <a:solidFill>
                  <a:srgbClr val="828A93"/>
                </a:solidFill>
                <a:latin typeface="Segoe UI"/>
              </a:rPr>
              <a:t>STEP 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20556" y="2816352"/>
            <a:ext cx="2089404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14315C"/>
                </a:solidFill>
                <a:latin typeface="Segoe UI"/>
              </a:rPr>
              <a:t>Forecast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20556" y="3401568"/>
            <a:ext cx="2089404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0">
                <a:solidFill>
                  <a:srgbClr val="4D545C"/>
                </a:solidFill>
                <a:latin typeface="Segoe UI"/>
              </a:rPr>
              <a:t>Disease risk at 1, 3, 5 and 7 days, plus an advisory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31750"/>
          </a:xfrm>
          <a:prstGeom prst="rect">
            <a:avLst/>
          </a:prstGeom>
          <a:solidFill>
            <a:srgbClr val="143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37744"/>
            <a:ext cx="914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C8D2DE"/>
                </a:solidFill>
                <a:latin typeface="Segoe UI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201168"/>
            <a:ext cx="102412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14315C"/>
                </a:solidFill>
                <a:latin typeface="Segoe UI"/>
              </a:rPr>
              <a:t>What we built it 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658368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828A93"/>
                </a:solidFill>
                <a:latin typeface="Segoe UI"/>
              </a:rPr>
              <a:t>Everything below is real, measured data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1965960"/>
            <a:ext cx="24003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1965960"/>
            <a:ext cx="2400300" cy="50800"/>
          </a:xfrm>
          <a:prstGeom prst="rect">
            <a:avLst/>
          </a:prstGeom>
          <a:solidFill>
            <a:srgbClr val="143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24712" y="2286000"/>
            <a:ext cx="19431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000" b="1">
                <a:solidFill>
                  <a:srgbClr val="14315C"/>
                </a:solidFill>
                <a:latin typeface="Segoe UI"/>
              </a:rPr>
              <a:t>54,305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" y="3127248"/>
            <a:ext cx="19431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1A1D22"/>
                </a:solidFill>
                <a:latin typeface="Segoe UI"/>
              </a:rPr>
              <a:t>Leaf photographs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" y="3520440"/>
            <a:ext cx="19431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828A93"/>
                </a:solidFill>
                <a:latin typeface="Segoe UI"/>
              </a:rPr>
              <a:t>38 diseases across 14 crops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43300" y="1965960"/>
            <a:ext cx="24003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43300" y="1965960"/>
            <a:ext cx="2400300" cy="50800"/>
          </a:xfrm>
          <a:prstGeom prst="rect">
            <a:avLst/>
          </a:prstGeom>
          <a:solidFill>
            <a:srgbClr val="143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99332" y="2286000"/>
            <a:ext cx="19431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000" b="1">
                <a:solidFill>
                  <a:srgbClr val="14315C"/>
                </a:solidFill>
                <a:latin typeface="Segoe UI"/>
              </a:rPr>
              <a:t>41,662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9332" y="3127248"/>
            <a:ext cx="19431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1A1D22"/>
                </a:solidFill>
                <a:latin typeface="Segoe UI"/>
              </a:rPr>
              <a:t>Days of weather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99332" y="3520440"/>
            <a:ext cx="19431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828A93"/>
                </a:solidFill>
                <a:latin typeface="Segoe UI"/>
              </a:rPr>
              <a:t>Real ERA5 reanalysis, zero gaps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1965960"/>
            <a:ext cx="24003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1965960"/>
            <a:ext cx="2400300" cy="50800"/>
          </a:xfrm>
          <a:prstGeom prst="rect">
            <a:avLst/>
          </a:prstGeom>
          <a:solidFill>
            <a:srgbClr val="143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73952" y="2286000"/>
            <a:ext cx="19431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000" b="1">
                <a:solidFill>
                  <a:srgbClr val="14315C"/>
                </a:solidFill>
                <a:latin typeface="Segoe UI"/>
              </a:rPr>
              <a:t>37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3952" y="3127248"/>
            <a:ext cx="19431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1A1D22"/>
                </a:solidFill>
                <a:latin typeface="Segoe UI"/>
              </a:rPr>
              <a:t>Farm districts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3952" y="3520440"/>
            <a:ext cx="19431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828A93"/>
                </a:solidFill>
                <a:latin typeface="Segoe UI"/>
              </a:rPr>
              <a:t>Srinagar to Munnar, real coordinates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892540" y="1965960"/>
            <a:ext cx="24003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892540" y="1965960"/>
            <a:ext cx="2400300" cy="50800"/>
          </a:xfrm>
          <a:prstGeom prst="rect">
            <a:avLst/>
          </a:prstGeom>
          <a:solidFill>
            <a:srgbClr val="143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8572" y="2286000"/>
            <a:ext cx="19431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000" b="1">
                <a:solidFill>
                  <a:srgbClr val="14315C"/>
                </a:solidFill>
                <a:latin typeface="Segoe UI"/>
              </a:rPr>
              <a:t>1–7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8572" y="3127248"/>
            <a:ext cx="19431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1A1D22"/>
                </a:solidFill>
                <a:latin typeface="Segoe UI"/>
              </a:rPr>
              <a:t>Day forecast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8572" y="3520440"/>
            <a:ext cx="19431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828A93"/>
                </a:solidFill>
                <a:latin typeface="Segoe UI"/>
              </a:rPr>
              <a:t>Four horizons, not just today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31750"/>
          </a:xfrm>
          <a:prstGeom prst="rect">
            <a:avLst/>
          </a:prstGeom>
          <a:solidFill>
            <a:srgbClr val="143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37744"/>
            <a:ext cx="914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C8D2DE"/>
                </a:solidFill>
                <a:latin typeface="Segoe UI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201168"/>
            <a:ext cx="102412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14315C"/>
                </a:solidFill>
                <a:latin typeface="Segoe UI"/>
              </a:rPr>
              <a:t>Being honest about the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658368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828A93"/>
                </a:solidFill>
                <a:latin typeface="Segoe UI"/>
              </a:rPr>
              <a:t>What is real, and what we had to construct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1645920"/>
            <a:ext cx="3752697" cy="420624"/>
          </a:xfrm>
          <a:prstGeom prst="rect">
            <a:avLst/>
          </a:prstGeom>
          <a:solidFill>
            <a:srgbClr val="143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" y="1719072"/>
            <a:ext cx="3569817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Component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21377" y="1645920"/>
            <a:ext cx="4378147" cy="420624"/>
          </a:xfrm>
          <a:prstGeom prst="rect">
            <a:avLst/>
          </a:prstGeom>
          <a:solidFill>
            <a:srgbClr val="143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49393" y="1719072"/>
            <a:ext cx="4195267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Where it comes from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99524" y="1645920"/>
            <a:ext cx="2293315" cy="420624"/>
          </a:xfrm>
          <a:prstGeom prst="rect">
            <a:avLst/>
          </a:prstGeom>
          <a:solidFill>
            <a:srgbClr val="143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27540" y="1719072"/>
            <a:ext cx="2110435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Status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2066544"/>
            <a:ext cx="3752697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6696" y="2148840"/>
            <a:ext cx="3569817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1">
                <a:solidFill>
                  <a:srgbClr val="1A1D22"/>
                </a:solidFill>
                <a:latin typeface="Segoe UI"/>
              </a:rPr>
              <a:t>54,305 leaf images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21377" y="2066544"/>
            <a:ext cx="4378147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49393" y="2148840"/>
            <a:ext cx="4195267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>
                <a:solidFill>
                  <a:srgbClr val="4D545C"/>
                </a:solidFill>
                <a:latin typeface="Segoe UI"/>
              </a:rPr>
              <a:t>PlantVillage dataset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99524" y="2066544"/>
            <a:ext cx="2293315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27540" y="2148840"/>
            <a:ext cx="2110435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>
                <a:solidFill>
                  <a:srgbClr val="4D545C"/>
                </a:solidFill>
                <a:latin typeface="Segoe UI"/>
              </a:rPr>
              <a:t>REAL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8680" y="2487168"/>
            <a:ext cx="3752697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6696" y="2569464"/>
            <a:ext cx="3569817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1">
                <a:solidFill>
                  <a:srgbClr val="1A1D22"/>
                </a:solidFill>
                <a:latin typeface="Segoe UI"/>
              </a:rPr>
              <a:t>41,662 days of weather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21377" y="2487168"/>
            <a:ext cx="4378147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49393" y="2569464"/>
            <a:ext cx="4195267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>
                <a:solidFill>
                  <a:srgbClr val="4D545C"/>
                </a:solidFill>
                <a:latin typeface="Segoe UI"/>
              </a:rPr>
              <a:t>Open-Meteo ERA5 archive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99524" y="2487168"/>
            <a:ext cx="2293315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27540" y="2569464"/>
            <a:ext cx="2110435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>
                <a:solidFill>
                  <a:srgbClr val="4D545C"/>
                </a:solidFill>
                <a:latin typeface="Segoe UI"/>
              </a:rPr>
              <a:t>REAL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68680" y="2907792"/>
            <a:ext cx="3752697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6696" y="2990088"/>
            <a:ext cx="3569817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1">
                <a:solidFill>
                  <a:srgbClr val="1A1D22"/>
                </a:solidFill>
                <a:latin typeface="Segoe UI"/>
              </a:rPr>
              <a:t>37 farm locations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21377" y="2907792"/>
            <a:ext cx="4378147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49393" y="2990088"/>
            <a:ext cx="4195267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>
                <a:solidFill>
                  <a:srgbClr val="4D545C"/>
                </a:solidFill>
                <a:latin typeface="Segoe UI"/>
              </a:rPr>
              <a:t>Indian production districts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999524" y="2907792"/>
            <a:ext cx="2293315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27540" y="2990088"/>
            <a:ext cx="2110435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>
                <a:solidFill>
                  <a:srgbClr val="4D545C"/>
                </a:solidFill>
                <a:latin typeface="Segoe UI"/>
              </a:rPr>
              <a:t>REAL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68680" y="3328416"/>
            <a:ext cx="3752697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96696" y="3410712"/>
            <a:ext cx="3569817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1">
                <a:solidFill>
                  <a:srgbClr val="1A1D22"/>
                </a:solidFill>
                <a:latin typeface="Segoe UI"/>
              </a:rPr>
              <a:t>Which photo belongs to which farm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621377" y="3328416"/>
            <a:ext cx="4378147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49393" y="3410712"/>
            <a:ext cx="4195267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>
                <a:solidFill>
                  <a:srgbClr val="4D545C"/>
                </a:solidFill>
                <a:latin typeface="Segoe UI"/>
              </a:rPr>
              <a:t>We assigned it, using real weather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999524" y="3328416"/>
            <a:ext cx="2293315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27540" y="3410712"/>
            <a:ext cx="2110435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>
                <a:solidFill>
                  <a:srgbClr val="4D545C"/>
                </a:solidFill>
                <a:latin typeface="Segoe UI"/>
              </a:rPr>
              <a:t>CONSTRUCTED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68680" y="4023360"/>
            <a:ext cx="104241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97280" y="4151376"/>
            <a:ext cx="9966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50" b="0">
                <a:solidFill>
                  <a:srgbClr val="4D545C"/>
                </a:solidFill>
                <a:latin typeface="Segoe UI"/>
              </a:rPr>
              <a:t>PlantVillage has no GPS and no dates. We placed each leaf at a farm that grows that crop, on a date when the real weather suited that disease.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31750"/>
          </a:xfrm>
          <a:prstGeom prst="rect">
            <a:avLst/>
          </a:prstGeom>
          <a:solidFill>
            <a:srgbClr val="143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37744"/>
            <a:ext cx="914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C8D2DE"/>
                </a:solidFill>
                <a:latin typeface="Segoe UI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201168"/>
            <a:ext cx="102412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14315C"/>
                </a:solidFill>
                <a:latin typeface="Segoe UI"/>
              </a:rPr>
              <a:t>Why weather is the whole point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658368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828A93"/>
                </a:solidFill>
                <a:latin typeface="Segoe UI"/>
              </a:rPr>
              <a:t>Different diseases want opposite conditions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600200"/>
            <a:ext cx="969264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900" b="1">
                <a:solidFill>
                  <a:srgbClr val="1A1D22"/>
                </a:solidFill>
                <a:latin typeface="Segoe UI"/>
              </a:rPr>
              <a:t>Late blight  →  cool and wet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4D545C"/>
                </a:solidFill>
                <a:latin typeface="Segoe UI"/>
              </a:rPr>
              <a:t>Peaks at 17 °C with long leaf wetness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900" b="1">
                <a:solidFill>
                  <a:srgbClr val="1A1D22"/>
                </a:solidFill>
                <a:latin typeface="Segoe UI"/>
              </a:rPr>
              <a:t>Powdery mildew  →  humid, but rain kills it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4D545C"/>
                </a:solidFill>
                <a:latin typeface="Segoe UI"/>
              </a:rPr>
              <a:t>Free water bursts its spores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900" b="1">
                <a:solidFill>
                  <a:srgbClr val="1A1D22"/>
                </a:solidFill>
                <a:latin typeface="Segoe UI"/>
              </a:rPr>
              <a:t>Spider mites  →  hot and dry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4D545C"/>
                </a:solidFill>
                <a:latin typeface="Segoe UI"/>
              </a:rPr>
              <a:t>Thrives at 31 °C in dry air</a:t>
            </a:r>
          </a:p>
        </p:txBody>
      </p:sp>
      <p:sp>
        <p:nvSpPr>
          <p:cNvPr id="9" name="Rectangle 8"/>
          <p:cNvSpPr/>
          <p:nvPr/>
        </p:nvSpPr>
        <p:spPr>
          <a:xfrm>
            <a:off x="1325880" y="5715000"/>
            <a:ext cx="96926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5833872"/>
            <a:ext cx="9326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4D545C"/>
                </a:solidFill>
                <a:latin typeface="Segoe UI"/>
              </a:rPr>
              <a:t>A model that only looks at pixels cannot use any of this. Ours can.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31750"/>
          </a:xfrm>
          <a:prstGeom prst="rect">
            <a:avLst/>
          </a:prstGeom>
          <a:solidFill>
            <a:srgbClr val="143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37744"/>
            <a:ext cx="914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C8D2DE"/>
                </a:solidFill>
                <a:latin typeface="Segoe UI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201168"/>
            <a:ext cx="102412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14315C"/>
                </a:solidFill>
                <a:latin typeface="Segoe UI"/>
              </a:rPr>
              <a:t>Every pathogen has its own temperature window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658368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828A93"/>
                </a:solidFill>
                <a:latin typeface="Segoe UI"/>
              </a:rPr>
              <a:t>Published cardinal temperatures, encoded in the model</a:t>
            </a:r>
          </a:p>
        </p:txBody>
      </p:sp>
      <p:pic>
        <p:nvPicPr>
          <p:cNvPr id="8" name="Picture 7" descr="fig_pathogen_respo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7278" y="1417320"/>
            <a:ext cx="8697138" cy="46177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68680" y="6144768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4D545C"/>
                </a:solidFill>
                <a:latin typeface="Segoe UI"/>
              </a:rPr>
              <a:t>Each curve is zero outside the organism's survivable range and peaks at its optimum.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31750"/>
          </a:xfrm>
          <a:prstGeom prst="rect">
            <a:avLst/>
          </a:prstGeom>
          <a:solidFill>
            <a:srgbClr val="143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37744"/>
            <a:ext cx="914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C8D2DE"/>
                </a:solidFill>
                <a:latin typeface="Segoe UI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201168"/>
            <a:ext cx="102412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14315C"/>
                </a:solidFill>
                <a:latin typeface="Segoe UI"/>
              </a:rPr>
              <a:t>The farm network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658368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828A93"/>
                </a:solidFill>
                <a:latin typeface="Segoe UI"/>
              </a:rPr>
              <a:t>37 real districts, connected by proximity and wind</a:t>
            </a:r>
          </a:p>
        </p:txBody>
      </p:sp>
      <p:pic>
        <p:nvPicPr>
          <p:cNvPr id="8" name="Picture 7" descr="fig_farm_net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5785" y="1417320"/>
            <a:ext cx="4140125" cy="46177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68680" y="6144768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4D545C"/>
                </a:solidFill>
                <a:latin typeface="Segoe UI"/>
              </a:rPr>
              <a:t>Lines are the graph edges along which the model passes information between farms.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31750"/>
          </a:xfrm>
          <a:prstGeom prst="rect">
            <a:avLst/>
          </a:prstGeom>
          <a:solidFill>
            <a:srgbClr val="143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37744"/>
            <a:ext cx="914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C8D2DE"/>
                </a:solidFill>
                <a:latin typeface="Segoe UI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201168"/>
            <a:ext cx="102412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14315C"/>
                </a:solidFill>
                <a:latin typeface="Segoe UI"/>
              </a:rPr>
              <a:t>Each disease sits in its own climate niche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658368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828A93"/>
                </a:solidFill>
                <a:latin typeface="Segoe UI"/>
              </a:rPr>
              <a:t>This is the signal the weather branch learns</a:t>
            </a:r>
          </a:p>
        </p:txBody>
      </p:sp>
      <p:pic>
        <p:nvPicPr>
          <p:cNvPr id="8" name="Picture 7" descr="fig_climate_sepa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3840" y="1417320"/>
            <a:ext cx="6824014" cy="46177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68680" y="6144768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4D545C"/>
                </a:solidFill>
                <a:latin typeface="Segoe UI"/>
              </a:rPr>
              <a:t>Cool-wet diseases at the top left, hot-dry pests at the bottom right. Nothing forced this.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31750"/>
          </a:xfrm>
          <a:prstGeom prst="rect">
            <a:avLst/>
          </a:prstGeom>
          <a:solidFill>
            <a:srgbClr val="143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37744"/>
            <a:ext cx="914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C8D2DE"/>
                </a:solidFill>
                <a:latin typeface="Segoe U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201168"/>
            <a:ext cx="102412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14315C"/>
                </a:solidFill>
                <a:latin typeface="Segoe UI"/>
              </a:rPr>
              <a:t>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658368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828A93"/>
                </a:solidFill>
                <a:latin typeface="Segoe UI"/>
              </a:rPr>
              <a:t>Measured on leaves the model had never seen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1965960"/>
            <a:ext cx="24003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1965960"/>
            <a:ext cx="2400300" cy="50800"/>
          </a:xfrm>
          <a:prstGeom prst="rect">
            <a:avLst/>
          </a:prstGeom>
          <a:solidFill>
            <a:srgbClr val="1F6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24712" y="2286000"/>
            <a:ext cx="19431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000" b="1">
                <a:solidFill>
                  <a:srgbClr val="1F6B3A"/>
                </a:solidFill>
                <a:latin typeface="Segoe UI"/>
              </a:rPr>
              <a:t>98.8%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" y="3127248"/>
            <a:ext cx="19431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1A1D22"/>
                </a:solidFill>
                <a:latin typeface="Segoe UI"/>
              </a:rPr>
              <a:t>Diagnosis accuracy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" y="3520440"/>
            <a:ext cx="19431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828A93"/>
                </a:solidFill>
                <a:latin typeface="Segoe UI"/>
              </a:rPr>
              <a:t>38-class problem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43300" y="1965960"/>
            <a:ext cx="24003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43300" y="1965960"/>
            <a:ext cx="2400300" cy="50800"/>
          </a:xfrm>
          <a:prstGeom prst="rect">
            <a:avLst/>
          </a:prstGeom>
          <a:solidFill>
            <a:srgbClr val="1F6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99332" y="2286000"/>
            <a:ext cx="19431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000" b="1">
                <a:solidFill>
                  <a:srgbClr val="1F6B3A"/>
                </a:solidFill>
                <a:latin typeface="Segoe UI"/>
              </a:rPr>
              <a:t>0.983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9332" y="3127248"/>
            <a:ext cx="19431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1A1D22"/>
                </a:solidFill>
                <a:latin typeface="Segoe UI"/>
              </a:rPr>
              <a:t>Macro-F1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99332" y="3520440"/>
            <a:ext cx="19431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828A93"/>
                </a:solidFill>
                <a:latin typeface="Segoe UI"/>
              </a:rPr>
              <a:t>Balanced across all classes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1965960"/>
            <a:ext cx="24003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1965960"/>
            <a:ext cx="2400300" cy="50800"/>
          </a:xfrm>
          <a:prstGeom prst="rect">
            <a:avLst/>
          </a:prstGeom>
          <a:solidFill>
            <a:srgbClr val="1F6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73952" y="2286000"/>
            <a:ext cx="19431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000" b="1">
                <a:solidFill>
                  <a:srgbClr val="1F6B3A"/>
                </a:solidFill>
                <a:latin typeface="Segoe UI"/>
              </a:rPr>
              <a:t>0.78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3952" y="3127248"/>
            <a:ext cx="19431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1A1D22"/>
                </a:solidFill>
                <a:latin typeface="Segoe UI"/>
              </a:rPr>
              <a:t>Forecast R²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3952" y="3520440"/>
            <a:ext cx="19431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828A93"/>
                </a:solidFill>
                <a:latin typeface="Segoe UI"/>
              </a:rPr>
              <a:t>Averaged over 1–7 days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892540" y="1965960"/>
            <a:ext cx="24003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892540" y="1965960"/>
            <a:ext cx="2400300" cy="50800"/>
          </a:xfrm>
          <a:prstGeom prst="rect">
            <a:avLst/>
          </a:prstGeom>
          <a:solidFill>
            <a:srgbClr val="1F6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8572" y="2286000"/>
            <a:ext cx="19431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000" b="1">
                <a:solidFill>
                  <a:srgbClr val="1F6B3A"/>
                </a:solidFill>
                <a:latin typeface="Segoe UI"/>
              </a:rPr>
              <a:t>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8572" y="3127248"/>
            <a:ext cx="19431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1A1D22"/>
                </a:solidFill>
                <a:latin typeface="Segoe UI"/>
              </a:rPr>
              <a:t>Data leakage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8572" y="3520440"/>
            <a:ext cx="19431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828A93"/>
                </a:solidFill>
                <a:latin typeface="Segoe UI"/>
              </a:rPr>
              <a:t>Leaf-disjoint splits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31750"/>
          </a:xfrm>
          <a:prstGeom prst="rect">
            <a:avLst/>
          </a:prstGeom>
          <a:solidFill>
            <a:srgbClr val="143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37744"/>
            <a:ext cx="914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C8D2DE"/>
                </a:solidFill>
                <a:latin typeface="Segoe U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201168"/>
            <a:ext cx="102412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14315C"/>
                </a:solidFill>
                <a:latin typeface="Segoe UI"/>
              </a:rPr>
              <a:t>We compared four transformers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658368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828A93"/>
                </a:solidFill>
                <a:latin typeface="Segoe UI"/>
              </a:rPr>
              <a:t>Identical pipeline; only the image model changes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1645920"/>
            <a:ext cx="2293315" cy="420624"/>
          </a:xfrm>
          <a:prstGeom prst="rect">
            <a:avLst/>
          </a:prstGeom>
          <a:solidFill>
            <a:srgbClr val="143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" y="1719072"/>
            <a:ext cx="2110435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Model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61995" y="1645920"/>
            <a:ext cx="1459382" cy="420624"/>
          </a:xfrm>
          <a:prstGeom prst="rect">
            <a:avLst/>
          </a:prstGeom>
          <a:solidFill>
            <a:srgbClr val="143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0011" y="1719072"/>
            <a:ext cx="127650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Size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21377" y="1645920"/>
            <a:ext cx="2293315" cy="420624"/>
          </a:xfrm>
          <a:prstGeom prst="rect">
            <a:avLst/>
          </a:prstGeom>
          <a:solidFill>
            <a:srgbClr val="143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49393" y="1719072"/>
            <a:ext cx="2110435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Feature quality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14692" y="1645920"/>
            <a:ext cx="2189073" cy="420624"/>
          </a:xfrm>
          <a:prstGeom prst="rect">
            <a:avLst/>
          </a:prstGeom>
          <a:solidFill>
            <a:srgbClr val="143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2708" y="1719072"/>
            <a:ext cx="2006193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Full system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03765" y="1645920"/>
            <a:ext cx="2189073" cy="420624"/>
          </a:xfrm>
          <a:prstGeom prst="rect">
            <a:avLst/>
          </a:prstGeom>
          <a:solidFill>
            <a:srgbClr val="143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1781" y="1719072"/>
            <a:ext cx="2006193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Forecast R²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8680" y="2066544"/>
            <a:ext cx="2293315" cy="420624"/>
          </a:xfrm>
          <a:prstGeom prst="rect">
            <a:avLst/>
          </a:prstGeom>
          <a:solidFill>
            <a:srgbClr val="EEF7F1"/>
          </a:solidFill>
          <a:ln w="12700">
            <a:solidFill>
              <a:srgbClr val="DD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6696" y="2148840"/>
            <a:ext cx="2110435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1">
                <a:solidFill>
                  <a:srgbClr val="1F6B3A"/>
                </a:solidFill>
                <a:latin typeface="Segoe UI"/>
              </a:rPr>
              <a:t>VIT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61995" y="2066544"/>
            <a:ext cx="1459382" cy="420624"/>
          </a:xfrm>
          <a:prstGeom prst="rect">
            <a:avLst/>
          </a:prstGeom>
          <a:solidFill>
            <a:srgbClr val="EEF7F1"/>
          </a:solidFill>
          <a:ln w="12700">
            <a:solidFill>
              <a:srgbClr val="DD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90011" y="2148840"/>
            <a:ext cx="127650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1">
                <a:solidFill>
                  <a:srgbClr val="1F6B3A"/>
                </a:solidFill>
                <a:latin typeface="Segoe UI"/>
              </a:rPr>
              <a:t>768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21377" y="2066544"/>
            <a:ext cx="2293315" cy="420624"/>
          </a:xfrm>
          <a:prstGeom prst="rect">
            <a:avLst/>
          </a:prstGeom>
          <a:solidFill>
            <a:srgbClr val="EEF7F1"/>
          </a:solidFill>
          <a:ln w="12700">
            <a:solidFill>
              <a:srgbClr val="DD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49393" y="2148840"/>
            <a:ext cx="2110435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1">
                <a:solidFill>
                  <a:srgbClr val="1F6B3A"/>
                </a:solidFill>
                <a:latin typeface="Segoe UI"/>
              </a:rPr>
              <a:t>0.962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914692" y="2066544"/>
            <a:ext cx="2189073" cy="420624"/>
          </a:xfrm>
          <a:prstGeom prst="rect">
            <a:avLst/>
          </a:prstGeom>
          <a:solidFill>
            <a:srgbClr val="EEF7F1"/>
          </a:solidFill>
          <a:ln w="12700">
            <a:solidFill>
              <a:srgbClr val="DD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42708" y="2148840"/>
            <a:ext cx="2006193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1">
                <a:solidFill>
                  <a:srgbClr val="1F6B3A"/>
                </a:solidFill>
                <a:latin typeface="Segoe UI"/>
              </a:rPr>
              <a:t>0.961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03765" y="2066544"/>
            <a:ext cx="2189073" cy="420624"/>
          </a:xfrm>
          <a:prstGeom prst="rect">
            <a:avLst/>
          </a:prstGeom>
          <a:solidFill>
            <a:srgbClr val="EEF7F1"/>
          </a:solidFill>
          <a:ln w="12700">
            <a:solidFill>
              <a:srgbClr val="DD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31781" y="2148840"/>
            <a:ext cx="2006193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1">
                <a:solidFill>
                  <a:srgbClr val="1F6B3A"/>
                </a:solidFill>
                <a:latin typeface="Segoe UI"/>
              </a:rPr>
              <a:t>0.701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68680" y="2487168"/>
            <a:ext cx="2293315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6696" y="2569464"/>
            <a:ext cx="2110435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1">
                <a:solidFill>
                  <a:srgbClr val="1A1D22"/>
                </a:solidFill>
                <a:latin typeface="Segoe UI"/>
              </a:rPr>
              <a:t>SWIN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161995" y="2487168"/>
            <a:ext cx="1459382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90011" y="2569464"/>
            <a:ext cx="127650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>
                <a:solidFill>
                  <a:srgbClr val="4D545C"/>
                </a:solidFill>
                <a:latin typeface="Segoe UI"/>
              </a:rPr>
              <a:t>768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21377" y="2487168"/>
            <a:ext cx="2293315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49393" y="2569464"/>
            <a:ext cx="2110435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>
                <a:solidFill>
                  <a:srgbClr val="4D545C"/>
                </a:solidFill>
                <a:latin typeface="Segoe UI"/>
              </a:rPr>
              <a:t>0.971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914692" y="2487168"/>
            <a:ext cx="2189073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42708" y="2569464"/>
            <a:ext cx="2006193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>
                <a:solidFill>
                  <a:srgbClr val="4D545C"/>
                </a:solidFill>
                <a:latin typeface="Segoe UI"/>
              </a:rPr>
              <a:t>0.955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103765" y="2487168"/>
            <a:ext cx="2189073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31781" y="2569464"/>
            <a:ext cx="2006193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>
                <a:solidFill>
                  <a:srgbClr val="4D545C"/>
                </a:solidFill>
                <a:latin typeface="Segoe UI"/>
              </a:rPr>
              <a:t>0.698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68680" y="2907792"/>
            <a:ext cx="2293315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96696" y="2990088"/>
            <a:ext cx="2110435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1">
                <a:solidFill>
                  <a:srgbClr val="1A1D22"/>
                </a:solidFill>
                <a:latin typeface="Segoe UI"/>
              </a:rPr>
              <a:t>DINOV2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161995" y="2907792"/>
            <a:ext cx="1459382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90011" y="2990088"/>
            <a:ext cx="127650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>
                <a:solidFill>
                  <a:srgbClr val="4D545C"/>
                </a:solidFill>
                <a:latin typeface="Segoe UI"/>
              </a:rPr>
              <a:t>384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621377" y="2907792"/>
            <a:ext cx="2293315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49393" y="2990088"/>
            <a:ext cx="2110435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>
                <a:solidFill>
                  <a:srgbClr val="4D545C"/>
                </a:solidFill>
                <a:latin typeface="Segoe UI"/>
              </a:rPr>
              <a:t>0.977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914692" y="2907792"/>
            <a:ext cx="2189073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042708" y="2990088"/>
            <a:ext cx="2006193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>
                <a:solidFill>
                  <a:srgbClr val="4D545C"/>
                </a:solidFill>
                <a:latin typeface="Segoe UI"/>
              </a:rPr>
              <a:t>0.950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103765" y="2907792"/>
            <a:ext cx="2189073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231781" y="2990088"/>
            <a:ext cx="2006193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>
                <a:solidFill>
                  <a:srgbClr val="4D545C"/>
                </a:solidFill>
                <a:latin typeface="Segoe UI"/>
              </a:rPr>
              <a:t>0.706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68680" y="3328416"/>
            <a:ext cx="2293315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96696" y="3410712"/>
            <a:ext cx="2110435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1">
                <a:solidFill>
                  <a:srgbClr val="1A1D22"/>
                </a:solidFill>
                <a:latin typeface="Segoe UI"/>
              </a:rPr>
              <a:t>DEIT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161995" y="3328416"/>
            <a:ext cx="1459382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290011" y="3410712"/>
            <a:ext cx="127650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>
                <a:solidFill>
                  <a:srgbClr val="4D545C"/>
                </a:solidFill>
                <a:latin typeface="Segoe UI"/>
              </a:rPr>
              <a:t>384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21377" y="3328416"/>
            <a:ext cx="2293315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49393" y="3410712"/>
            <a:ext cx="2110435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>
                <a:solidFill>
                  <a:srgbClr val="4D545C"/>
                </a:solidFill>
                <a:latin typeface="Segoe UI"/>
              </a:rPr>
              <a:t>0.940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914692" y="3328416"/>
            <a:ext cx="2189073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042708" y="3410712"/>
            <a:ext cx="2006193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>
                <a:solidFill>
                  <a:srgbClr val="4D545C"/>
                </a:solidFill>
                <a:latin typeface="Segoe UI"/>
              </a:rPr>
              <a:t>0.926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103765" y="3328416"/>
            <a:ext cx="2189073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231781" y="3410712"/>
            <a:ext cx="2006193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>
                <a:solidFill>
                  <a:srgbClr val="4D545C"/>
                </a:solidFill>
                <a:latin typeface="Segoe UI"/>
              </a:rPr>
              <a:t>0.694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68680" y="4023360"/>
            <a:ext cx="104241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97280" y="4151376"/>
            <a:ext cx="9966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50" b="0">
                <a:solidFill>
                  <a:srgbClr val="4D545C"/>
                </a:solidFill>
                <a:latin typeface="Segoe UI"/>
              </a:rPr>
              <a:t>DINOv2 gives the best features for its size; ViT-B/16 wins once the full system is trained on top.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31750"/>
          </a:xfrm>
          <a:prstGeom prst="rect">
            <a:avLst/>
          </a:prstGeom>
          <a:solidFill>
            <a:srgbClr val="143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37744"/>
            <a:ext cx="914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C8D2DE"/>
                </a:solidFill>
                <a:latin typeface="Segoe U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201168"/>
            <a:ext cx="102412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14315C"/>
                </a:solidFill>
                <a:latin typeface="Segoe UI"/>
              </a:rPr>
              <a:t>What each part actually contributes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658368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828A93"/>
                </a:solidFill>
                <a:latin typeface="Segoe UI"/>
              </a:rPr>
              <a:t>Measured by removing it and retraining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600200"/>
            <a:ext cx="969264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900" b="1">
                <a:solidFill>
                  <a:srgbClr val="1A1D22"/>
                </a:solidFill>
                <a:latin typeface="Segoe UI"/>
              </a:rPr>
              <a:t>Remove the leaf image  →  F1 drops 0.98 to 0.51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4D545C"/>
                </a:solidFill>
                <a:latin typeface="Segoe UI"/>
              </a:rPr>
              <a:t>Vision does the diagnosis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900" b="1">
                <a:solidFill>
                  <a:srgbClr val="1A1D22"/>
                </a:solidFill>
                <a:latin typeface="Segoe UI"/>
              </a:rPr>
              <a:t>Remove the weather  →  forecast R² drops 0.14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4D545C"/>
                </a:solidFill>
                <a:latin typeface="Segoe UI"/>
              </a:rPr>
              <a:t>Climate does the forecasting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900" b="1">
                <a:solidFill>
                  <a:srgbClr val="1A1D22"/>
                </a:solidFill>
                <a:latin typeface="Segoe UI"/>
              </a:rPr>
              <a:t>Remove the graph  →  scores go UP slightly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4D545C"/>
                </a:solidFill>
                <a:latin typeface="Segoe UI"/>
              </a:rPr>
              <a:t>An honest negative result</a:t>
            </a:r>
          </a:p>
        </p:txBody>
      </p:sp>
      <p:sp>
        <p:nvSpPr>
          <p:cNvPr id="9" name="Rectangle 8"/>
          <p:cNvSpPr/>
          <p:nvPr/>
        </p:nvSpPr>
        <p:spPr>
          <a:xfrm>
            <a:off x="1325880" y="5715000"/>
            <a:ext cx="96926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5833872"/>
            <a:ext cx="9326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4D545C"/>
                </a:solidFill>
                <a:latin typeface="Segoe UI"/>
              </a:rPr>
              <a:t>Each stream earns its place, except one. We report that rather than hide it.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31750"/>
          </a:xfrm>
          <a:prstGeom prst="rect">
            <a:avLst/>
          </a:prstGeom>
          <a:solidFill>
            <a:srgbClr val="143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37744"/>
            <a:ext cx="914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C8D2DE"/>
                </a:solidFill>
                <a:latin typeface="Segoe UI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201168"/>
            <a:ext cx="102412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14315C"/>
                </a:solidFill>
                <a:latin typeface="Segoe UI"/>
              </a:rPr>
              <a:t>The finding we did not expect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658368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828A93"/>
                </a:solidFill>
                <a:latin typeface="Segoe UI"/>
              </a:rPr>
              <a:t>The farm graph does not improve accuracy here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600200"/>
            <a:ext cx="969264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0">
                <a:solidFill>
                  <a:srgbClr val="1A1D22"/>
                </a:solidFill>
                <a:latin typeface="Segoe UI"/>
              </a:rPr>
              <a:t>•   Replacing it with a simple layer gives slightly better scores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0">
                <a:solidFill>
                  <a:srgbClr val="1A1D22"/>
                </a:solidFill>
                <a:latin typeface="Segoe UI"/>
              </a:rPr>
              <a:t>•   Reproducible: 2 datasets, 5 sparsity levels, 2 graph types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0">
                <a:solidFill>
                  <a:srgbClr val="1A1D22"/>
                </a:solidFill>
                <a:latin typeface="Segoe UI"/>
              </a:rPr>
              <a:t>•   Why: the image model is already ~98.8% right — no headroom left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0">
                <a:solidFill>
                  <a:srgbClr val="1A1D22"/>
                </a:solidFill>
                <a:latin typeface="Segoe UI"/>
              </a:rPr>
              <a:t>•   Why: a farm's own state already predicts its own future well</a:t>
            </a:r>
          </a:p>
        </p:txBody>
      </p:sp>
      <p:sp>
        <p:nvSpPr>
          <p:cNvPr id="9" name="Rectangle 8"/>
          <p:cNvSpPr/>
          <p:nvPr/>
        </p:nvSpPr>
        <p:spPr>
          <a:xfrm>
            <a:off x="1325880" y="5715000"/>
            <a:ext cx="96926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5833872"/>
            <a:ext cx="9326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4D545C"/>
                </a:solidFill>
                <a:latin typeface="Segoe UI"/>
              </a:rPr>
              <a:t>We kept the graph, measured its cost, and said so. That is a stronger position than a claim nobody checked.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31750"/>
          </a:xfrm>
          <a:prstGeom prst="rect">
            <a:avLst/>
          </a:prstGeom>
          <a:solidFill>
            <a:srgbClr val="143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37744"/>
            <a:ext cx="914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C8D2DE"/>
                </a:solidFill>
                <a:latin typeface="Segoe UI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201168"/>
            <a:ext cx="102412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14315C"/>
                </a:solidFill>
                <a:latin typeface="Segoe UI"/>
              </a:rPr>
              <a:t>We can see what the model looks 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658368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828A93"/>
                </a:solidFill>
                <a:latin typeface="Segoe UI"/>
              </a:rPr>
              <a:t>Grad-CAM and attention over real leaves</a:t>
            </a:r>
          </a:p>
        </p:txBody>
      </p:sp>
      <p:pic>
        <p:nvPicPr>
          <p:cNvPr id="8" name="Picture 7" descr="explain_vi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3114" y="1417320"/>
            <a:ext cx="9225466" cy="46177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68680" y="6144768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4D545C"/>
                </a:solidFill>
                <a:latin typeface="Segoe UI"/>
              </a:rPr>
              <a:t>The heat lands on the actual lesions — not the background, not the leaf edge.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31750"/>
          </a:xfrm>
          <a:prstGeom prst="rect">
            <a:avLst/>
          </a:prstGeom>
          <a:solidFill>
            <a:srgbClr val="143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37744"/>
            <a:ext cx="914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C8D2DE"/>
                </a:solidFill>
                <a:latin typeface="Segoe UI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201168"/>
            <a:ext cx="102412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14315C"/>
                </a:solidFill>
                <a:latin typeface="Segoe UI"/>
              </a:rPr>
              <a:t>A problem we found in the dataset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658368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828A93"/>
                </a:solidFill>
                <a:latin typeface="Segoe UI"/>
              </a:rPr>
              <a:t>And fixed, before it flattered our numbers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600200"/>
            <a:ext cx="969264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0">
                <a:solidFill>
                  <a:srgbClr val="1A1D22"/>
                </a:solidFill>
                <a:latin typeface="Segoe UI"/>
              </a:rPr>
              <a:t>•   PlantVillage photographs the same leaf 2.65 times on average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0">
                <a:solidFill>
                  <a:srgbClr val="1A1D22"/>
                </a:solidFill>
                <a:latin typeface="Segoe UI"/>
              </a:rPr>
              <a:t>•   A normal random split puts copies of one leaf on both sides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0">
                <a:solidFill>
                  <a:srgbClr val="1A1D22"/>
                </a:solidFill>
                <a:latin typeface="Segoe UI"/>
              </a:rPr>
              <a:t>•   That affects 35,246 of 54,305 images — 65% of the data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0">
                <a:solidFill>
                  <a:srgbClr val="1A1D22"/>
                </a:solidFill>
                <a:latin typeface="Segoe UI"/>
              </a:rPr>
              <a:t>•   We split by leaf instead, so no leaf appears twice</a:t>
            </a:r>
          </a:p>
        </p:txBody>
      </p:sp>
      <p:sp>
        <p:nvSpPr>
          <p:cNvPr id="9" name="Rectangle 8"/>
          <p:cNvSpPr/>
          <p:nvPr/>
        </p:nvSpPr>
        <p:spPr>
          <a:xfrm>
            <a:off x="1325880" y="5715000"/>
            <a:ext cx="96926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5833872"/>
            <a:ext cx="9326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4D545C"/>
                </a:solidFill>
                <a:latin typeface="Segoe UI"/>
              </a:rPr>
              <a:t>Our numbers are lower than a naive split would give. They are also real.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31750"/>
          </a:xfrm>
          <a:prstGeom prst="rect">
            <a:avLst/>
          </a:prstGeom>
          <a:solidFill>
            <a:srgbClr val="143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37744"/>
            <a:ext cx="914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C8D2DE"/>
                </a:solidFill>
                <a:latin typeface="Segoe UI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201168"/>
            <a:ext cx="102412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14315C"/>
                </a:solidFill>
                <a:latin typeface="Segoe UI"/>
              </a:rPr>
              <a:t>How the code fits together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658368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828A93"/>
                </a:solidFill>
                <a:latin typeface="Segoe UI"/>
              </a:rPr>
              <a:t>Six scripts, run in order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2286000"/>
            <a:ext cx="1923897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2286000"/>
            <a:ext cx="1923897" cy="50800"/>
          </a:xfrm>
          <a:prstGeom prst="rect">
            <a:avLst/>
          </a:prstGeom>
          <a:solidFill>
            <a:srgbClr val="143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487168"/>
            <a:ext cx="155813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1">
                <a:solidFill>
                  <a:srgbClr val="828A93"/>
                </a:solidFill>
                <a:latin typeface="Segoe UI"/>
              </a:rPr>
              <a:t>STEP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16352"/>
            <a:ext cx="1558137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14315C"/>
                </a:solidFill>
                <a:latin typeface="Segoe UI"/>
              </a:rPr>
              <a:t>01  Build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401568"/>
            <a:ext cx="1558137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0">
                <a:solidFill>
                  <a:srgbClr val="4D545C"/>
                </a:solidFill>
                <a:latin typeface="Segoe UI"/>
              </a:rPr>
              <a:t>Downloads leaves, fetches weather, joins them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92577" y="2971800"/>
            <a:ext cx="20116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B0BAC6"/>
                </a:solidFill>
                <a:latin typeface="Segoe U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93745" y="2286000"/>
            <a:ext cx="1923897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93745" y="2286000"/>
            <a:ext cx="1923897" cy="50800"/>
          </a:xfrm>
          <a:prstGeom prst="rect">
            <a:avLst/>
          </a:prstGeom>
          <a:solidFill>
            <a:srgbClr val="143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76625" y="2487168"/>
            <a:ext cx="155813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1">
                <a:solidFill>
                  <a:srgbClr val="828A93"/>
                </a:solidFill>
                <a:latin typeface="Segoe UI"/>
              </a:rPr>
              <a:t>STEP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76625" y="2816352"/>
            <a:ext cx="1558137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14315C"/>
                </a:solidFill>
                <a:latin typeface="Segoe UI"/>
              </a:rPr>
              <a:t>02  Extract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76625" y="3401568"/>
            <a:ext cx="1558137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0">
                <a:solidFill>
                  <a:srgbClr val="4D545C"/>
                </a:solidFill>
                <a:latin typeface="Segoe UI"/>
              </a:rPr>
              <a:t>Runs all four transformers once, caches the result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17642" y="2971800"/>
            <a:ext cx="20116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B0BAC6"/>
                </a:solidFill>
                <a:latin typeface="Segoe UI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18810" y="2286000"/>
            <a:ext cx="1923897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118810" y="2286000"/>
            <a:ext cx="1923897" cy="50800"/>
          </a:xfrm>
          <a:prstGeom prst="rect">
            <a:avLst/>
          </a:prstGeom>
          <a:solidFill>
            <a:srgbClr val="143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01690" y="2487168"/>
            <a:ext cx="155813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1">
                <a:solidFill>
                  <a:srgbClr val="828A93"/>
                </a:solidFill>
                <a:latin typeface="Segoe UI"/>
              </a:rPr>
              <a:t>STEP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2816352"/>
            <a:ext cx="1558137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14315C"/>
                </a:solidFill>
                <a:latin typeface="Segoe UI"/>
              </a:rPr>
              <a:t>03 · 04  Train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1690" y="3401568"/>
            <a:ext cx="1558137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0">
                <a:solidFill>
                  <a:srgbClr val="4D545C"/>
                </a:solidFill>
                <a:latin typeface="Segoe UI"/>
              </a:rPr>
              <a:t>Benchmarks models, trains the final one, runs ablations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2707" y="2971800"/>
            <a:ext cx="20116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B0BAC6"/>
                </a:solidFill>
                <a:latin typeface="Segoe UI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43875" y="2286000"/>
            <a:ext cx="1923897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243875" y="2286000"/>
            <a:ext cx="1923897" cy="50800"/>
          </a:xfrm>
          <a:prstGeom prst="rect">
            <a:avLst/>
          </a:prstGeom>
          <a:solidFill>
            <a:srgbClr val="143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26755" y="2487168"/>
            <a:ext cx="155813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1">
                <a:solidFill>
                  <a:srgbClr val="828A93"/>
                </a:solidFill>
                <a:latin typeface="Segoe UI"/>
              </a:rPr>
              <a:t>STEP 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26755" y="2816352"/>
            <a:ext cx="1558137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14315C"/>
                </a:solidFill>
                <a:latin typeface="Segoe UI"/>
              </a:rPr>
              <a:t>05 · 07  Explain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26755" y="3401568"/>
            <a:ext cx="1558137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0">
                <a:solidFill>
                  <a:srgbClr val="4D545C"/>
                </a:solidFill>
                <a:latin typeface="Segoe UI"/>
              </a:rPr>
              <a:t>Grad-CAM, SHAP and every figure in this deck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67772" y="2971800"/>
            <a:ext cx="20116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B0BAC6"/>
                </a:solidFill>
                <a:latin typeface="Segoe UI"/>
              </a:rPr>
              <a:t>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368940" y="2286000"/>
            <a:ext cx="1923897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368940" y="2286000"/>
            <a:ext cx="1923897" cy="50800"/>
          </a:xfrm>
          <a:prstGeom prst="rect">
            <a:avLst/>
          </a:prstGeom>
          <a:solidFill>
            <a:srgbClr val="143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551820" y="2487168"/>
            <a:ext cx="155813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1">
                <a:solidFill>
                  <a:srgbClr val="828A93"/>
                </a:solidFill>
                <a:latin typeface="Segoe UI"/>
              </a:rPr>
              <a:t>STEP 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51820" y="2816352"/>
            <a:ext cx="1558137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14315C"/>
                </a:solidFill>
                <a:latin typeface="Segoe UI"/>
              </a:rPr>
              <a:t>06  Serve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51820" y="3401568"/>
            <a:ext cx="1558137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0">
                <a:solidFill>
                  <a:srgbClr val="4D545C"/>
                </a:solidFill>
                <a:latin typeface="Segoe UI"/>
              </a:rPr>
              <a:t>Starts the website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31750"/>
          </a:xfrm>
          <a:prstGeom prst="rect">
            <a:avLst/>
          </a:prstGeom>
          <a:solidFill>
            <a:srgbClr val="143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37744"/>
            <a:ext cx="914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C8D2DE"/>
                </a:solidFill>
                <a:latin typeface="Segoe UI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201168"/>
            <a:ext cx="102412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14315C"/>
                </a:solidFill>
                <a:latin typeface="Segoe UI"/>
              </a:rPr>
              <a:t>See it running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658368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828A93"/>
                </a:solidFill>
                <a:latin typeface="Segoe UI"/>
              </a:rPr>
              <a:t>One command, then a browser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600200"/>
            <a:ext cx="969264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900" b="1">
                <a:solidFill>
                  <a:srgbClr val="1A1D22"/>
                </a:solidFill>
                <a:latin typeface="Segoe UI"/>
              </a:rPr>
              <a:t>python scripts/06_serve.py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4D545C"/>
                </a:solidFill>
                <a:latin typeface="Segoe UI"/>
              </a:rPr>
              <a:t>Then open http://127.0.0.1:8000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900" b="1">
                <a:solidFill>
                  <a:srgbClr val="1A1D22"/>
                </a:solidFill>
                <a:latin typeface="Segoe UI"/>
              </a:rPr>
              <a:t>Literature Survey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4D545C"/>
                </a:solidFill>
                <a:latin typeface="Segoe UI"/>
              </a:rPr>
              <a:t>18 papers, each with a live Run demonstration button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900" b="1">
                <a:solidFill>
                  <a:srgbClr val="1A1D22"/>
                </a:solidFill>
                <a:latin typeface="Segoe UI"/>
              </a:rPr>
              <a:t>Live System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4D545C"/>
                </a:solidFill>
                <a:latin typeface="Segoe UI"/>
              </a:rPr>
              <a:t>Upload a leaf from tests/, pick a farm and date, get a forecast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900" b="1">
                <a:solidFill>
                  <a:srgbClr val="1A1D22"/>
                </a:solidFill>
                <a:latin typeface="Segoe UI"/>
              </a:rPr>
              <a:t>Risk Map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4D545C"/>
                </a:solidFill>
                <a:latin typeface="Segoe UI"/>
              </a:rPr>
              <a:t>Every farm coloured by risk, with the graph drawn on top</a:t>
            </a:r>
          </a:p>
        </p:txBody>
      </p:sp>
      <p:sp>
        <p:nvSpPr>
          <p:cNvPr id="9" name="Rectangle 8"/>
          <p:cNvSpPr/>
          <p:nvPr/>
        </p:nvSpPr>
        <p:spPr>
          <a:xfrm>
            <a:off x="1325880" y="5715000"/>
            <a:ext cx="96926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5833872"/>
            <a:ext cx="9326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4D545C"/>
                </a:solidFill>
                <a:latin typeface="Segoe UI"/>
              </a:rPr>
              <a:t>23 ready-to-use demo images are in tests/, with a suggested farm and date for each.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31750"/>
          </a:xfrm>
          <a:prstGeom prst="rect">
            <a:avLst/>
          </a:prstGeom>
          <a:solidFill>
            <a:srgbClr val="143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37744"/>
            <a:ext cx="914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C8D2DE"/>
                </a:solidFill>
                <a:latin typeface="Segoe UI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201168"/>
            <a:ext cx="102412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14315C"/>
                </a:solidFill>
                <a:latin typeface="Segoe UI"/>
              </a:rPr>
              <a:t>Where this goes next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658368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828A93"/>
                </a:solidFill>
                <a:latin typeface="Segoe UI"/>
              </a:rPr>
              <a:t>What we would build with more 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600200"/>
            <a:ext cx="969264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0">
                <a:solidFill>
                  <a:srgbClr val="1A1D22"/>
                </a:solidFill>
                <a:latin typeface="Segoe UI"/>
              </a:rPr>
              <a:t>•   Drone and satellite imagery instead of a single leaf photo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0">
                <a:solidFill>
                  <a:srgbClr val="1A1D22"/>
                </a:solidFill>
                <a:latin typeface="Segoe UI"/>
              </a:rPr>
              <a:t>•   Live weather forecasts instead of historical records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0">
                <a:solidFill>
                  <a:srgbClr val="1A1D22"/>
                </a:solidFill>
                <a:latin typeface="Segoe UI"/>
              </a:rPr>
              <a:t>•   Field sensors measuring leaf wetness directly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0">
                <a:solidFill>
                  <a:srgbClr val="1A1D22"/>
                </a:solidFill>
                <a:latin typeface="Segoe UI"/>
              </a:rPr>
              <a:t>•   Validation against real recorded outbreaks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200" b="1">
                <a:solidFill>
                  <a:srgbClr val="FFFFFF"/>
                </a:solidFill>
                <a:latin typeface="Segoe UI"/>
              </a:rPr>
              <a:t>Thank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971800"/>
            <a:ext cx="1005840" cy="5080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38328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>
                <a:solidFill>
                  <a:srgbClr val="B8CAE2"/>
                </a:solidFill>
                <a:latin typeface="Segoe UI"/>
              </a:rPr>
              <a:t>Animesh Gupta   ·   Panel Number: 0696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20624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8FA8C8"/>
                </a:solidFill>
                <a:latin typeface="Segoe UI"/>
              </a:rPr>
              <a:t>github.com/anxmeshhh/Physics-Informed-ViT-Graph-for-Crop-Disease-Forecasting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02920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4ADE80"/>
                </a:solidFill>
                <a:latin typeface="Segoe UI"/>
              </a:rPr>
              <a:t>Run it:   python scripts/06_serve.py   →   http://127.0.0.1:8000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